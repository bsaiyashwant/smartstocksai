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9"/>
  </p:notesMasterIdLst>
  <p:sldIdLst>
    <p:sldId id="256" r:id="rId2"/>
    <p:sldId id="271" r:id="rId3"/>
    <p:sldId id="259" r:id="rId4"/>
    <p:sldId id="286" r:id="rId5"/>
    <p:sldId id="287" r:id="rId6"/>
    <p:sldId id="300" r:id="rId7"/>
    <p:sldId id="301" r:id="rId8"/>
    <p:sldId id="263" r:id="rId9"/>
    <p:sldId id="290" r:id="rId10"/>
    <p:sldId id="288" r:id="rId11"/>
    <p:sldId id="302" r:id="rId12"/>
    <p:sldId id="289" r:id="rId13"/>
    <p:sldId id="291" r:id="rId14"/>
    <p:sldId id="303" r:id="rId15"/>
    <p:sldId id="304" r:id="rId16"/>
    <p:sldId id="267" r:id="rId17"/>
    <p:sldId id="30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oever" initials="w" lastIdx="1" clrIdx="0">
    <p:extLst>
      <p:ext uri="{19B8F6BF-5375-455C-9EA6-DF929625EA0E}">
        <p15:presenceInfo xmlns:p15="http://schemas.microsoft.com/office/powerpoint/2012/main" userId="whoev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78" autoAdjust="0"/>
    <p:restoredTop sz="94660"/>
  </p:normalViewPr>
  <p:slideViewPr>
    <p:cSldViewPr snapToGrid="0">
      <p:cViewPr varScale="1">
        <p:scale>
          <a:sx n="111" d="100"/>
          <a:sy n="111" d="100"/>
        </p:scale>
        <p:origin x="546" y="96"/>
      </p:cViewPr>
      <p:guideLst/>
    </p:cSldViewPr>
  </p:slideViewPr>
  <p:notesTextViewPr>
    <p:cViewPr>
      <p:scale>
        <a:sx n="1" d="1"/>
        <a:sy n="1" d="1"/>
      </p:scale>
      <p:origin x="0" y="0"/>
    </p:cViewPr>
  </p:notesTextViewPr>
  <p:notesViewPr>
    <p:cSldViewPr snapToGrid="0">
      <p:cViewPr varScale="1">
        <p:scale>
          <a:sx n="57" d="100"/>
          <a:sy n="57" d="100"/>
        </p:scale>
        <p:origin x="2560"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06490A-2B5A-4A78-88B4-B9069912938D}" type="datetimeFigureOut">
              <a:rPr lang="en-IN" smtClean="0"/>
              <a:t>06-03-2026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DC21B1-72C9-48EC-AE48-8F81FCB3CC8F}" type="slidenum">
              <a:rPr lang="en-IN" smtClean="0"/>
              <a:t>‹#›</a:t>
            </a:fld>
            <a:endParaRPr lang="en-IN"/>
          </a:p>
        </p:txBody>
      </p:sp>
    </p:spTree>
    <p:extLst>
      <p:ext uri="{BB962C8B-B14F-4D97-AF65-F5344CB8AC3E}">
        <p14:creationId xmlns:p14="http://schemas.microsoft.com/office/powerpoint/2010/main" val="1330992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2DC21B1-72C9-48EC-AE48-8F81FCB3CC8F}" type="slidenum">
              <a:rPr lang="en-IN" smtClean="0"/>
              <a:t>16</a:t>
            </a:fld>
            <a:endParaRPr lang="en-IN"/>
          </a:p>
        </p:txBody>
      </p:sp>
    </p:spTree>
    <p:extLst>
      <p:ext uri="{BB962C8B-B14F-4D97-AF65-F5344CB8AC3E}">
        <p14:creationId xmlns:p14="http://schemas.microsoft.com/office/powerpoint/2010/main" val="2693323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9B998-DFED-73A6-654A-892B4B366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8B1AF0-2379-6EAD-84DF-FF9EBE63AA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789F1-8D49-F571-A81A-C5F4327E678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30DD046-8B00-DD56-23E2-E72F3D9CEA4A}"/>
              </a:ext>
            </a:extLst>
          </p:cNvPr>
          <p:cNvSpPr>
            <a:spLocks noGrp="1"/>
          </p:cNvSpPr>
          <p:nvPr>
            <p:ph type="sldNum" sz="quarter" idx="5"/>
          </p:nvPr>
        </p:nvSpPr>
        <p:spPr/>
        <p:txBody>
          <a:bodyPr/>
          <a:lstStyle/>
          <a:p>
            <a:fld id="{C2DC21B1-72C9-48EC-AE48-8F81FCB3CC8F}" type="slidenum">
              <a:rPr lang="en-IN" smtClean="0"/>
              <a:t>17</a:t>
            </a:fld>
            <a:endParaRPr lang="en-IN"/>
          </a:p>
        </p:txBody>
      </p:sp>
    </p:spTree>
    <p:extLst>
      <p:ext uri="{BB962C8B-B14F-4D97-AF65-F5344CB8AC3E}">
        <p14:creationId xmlns:p14="http://schemas.microsoft.com/office/powerpoint/2010/main" val="3136028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3/6/2026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3/6/2026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3/6/2026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3/6/2026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3/6/2026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3/6/2026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3/6/2026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3/6/2026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3/6/2026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3/6/2026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3/6/2026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3/6/2026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318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63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arxiv.org/search/?query=stock+price+prediction+machine+learning" TargetMode="External"/><Relationship Id="rId2" Type="http://schemas.openxmlformats.org/officeDocument/2006/relationships/hyperlink" Target="https://ieeexplore.ieee.org/" TargetMode="External"/><Relationship Id="rId1" Type="http://schemas.openxmlformats.org/officeDocument/2006/relationships/slideLayout" Target="../slideLayouts/slideLayout1.xml"/><Relationship Id="rId5" Type="http://schemas.openxmlformats.org/officeDocument/2006/relationships/hyperlink" Target="https://www.sciencedirect.com/" TargetMode="External"/><Relationship Id="rId4" Type="http://schemas.openxmlformats.org/officeDocument/2006/relationships/hyperlink" Target="https://spark.apache.or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616103"/>
            <a:ext cx="8991600" cy="1645920"/>
          </a:xfrm>
        </p:spPr>
        <p:txBody>
          <a:bodyPr>
            <a:normAutofit fontScale="90000"/>
          </a:bodyPr>
          <a:lstStyle/>
          <a:p>
            <a:pPr>
              <a:lnSpc>
                <a:spcPct val="100000"/>
              </a:lnSpc>
            </a:pPr>
            <a:r>
              <a:rPr lang="en-US" b="1" dirty="0"/>
              <a:t>Smart Stocks AI</a:t>
            </a:r>
            <a:br>
              <a:rPr lang="en-US" dirty="0"/>
            </a:br>
            <a:r>
              <a:rPr lang="en-US" dirty="0"/>
              <a:t>real time Stock Market Analysis</a:t>
            </a:r>
            <a:endParaRPr lang="en-IN" dirty="0"/>
          </a:p>
        </p:txBody>
      </p:sp>
      <p:sp>
        <p:nvSpPr>
          <p:cNvPr id="3" name="Subtitle 2"/>
          <p:cNvSpPr>
            <a:spLocks noGrp="1"/>
          </p:cNvSpPr>
          <p:nvPr>
            <p:ph type="subTitle" idx="1"/>
          </p:nvPr>
        </p:nvSpPr>
        <p:spPr>
          <a:xfrm>
            <a:off x="3498303" y="2468336"/>
            <a:ext cx="5195394" cy="3958344"/>
          </a:xfrm>
        </p:spPr>
        <p:txBody>
          <a:bodyPr>
            <a:normAutofit/>
          </a:bodyPr>
          <a:lstStyle/>
          <a:p>
            <a:r>
              <a:rPr lang="en-US" dirty="0">
                <a:solidFill>
                  <a:schemeClr val="tx1">
                    <a:lumMod val="95000"/>
                  </a:schemeClr>
                </a:solidFill>
              </a:rPr>
              <a:t>Department of Computer Science &amp; Engineering</a:t>
            </a:r>
          </a:p>
          <a:p>
            <a:r>
              <a:rPr lang="en-US" dirty="0" err="1">
                <a:solidFill>
                  <a:schemeClr val="tx1">
                    <a:lumMod val="95000"/>
                  </a:schemeClr>
                </a:solidFill>
              </a:rPr>
              <a:t>B.Tech</a:t>
            </a:r>
            <a:r>
              <a:rPr lang="en-US" dirty="0">
                <a:solidFill>
                  <a:schemeClr val="tx1">
                    <a:lumMod val="95000"/>
                  </a:schemeClr>
                </a:solidFill>
              </a:rPr>
              <a:t> |  Academic Year 2025–26</a:t>
            </a:r>
          </a:p>
          <a:p>
            <a:r>
              <a:rPr lang="en-US" b="1" u="sng" dirty="0">
                <a:solidFill>
                  <a:schemeClr val="tx1">
                    <a:lumMod val="95000"/>
                  </a:schemeClr>
                </a:solidFill>
              </a:rPr>
              <a:t>Presented by:</a:t>
            </a:r>
          </a:p>
          <a:p>
            <a:r>
              <a:rPr lang="en-US" dirty="0">
                <a:solidFill>
                  <a:schemeClr val="tx1">
                    <a:lumMod val="95000"/>
                  </a:schemeClr>
                </a:solidFill>
              </a:rPr>
              <a:t>Sameer Farhad  |  2320030239  |  CSE</a:t>
            </a:r>
          </a:p>
          <a:p>
            <a:r>
              <a:rPr lang="en-US" dirty="0">
                <a:solidFill>
                  <a:schemeClr val="tx1">
                    <a:lumMod val="95000"/>
                  </a:schemeClr>
                </a:solidFill>
              </a:rPr>
              <a:t>Sai Harshit Dasari  |  2320030249  |  CSE</a:t>
            </a:r>
          </a:p>
          <a:p>
            <a:r>
              <a:rPr lang="en-US" dirty="0">
                <a:solidFill>
                  <a:schemeClr val="tx1">
                    <a:lumMod val="95000"/>
                  </a:schemeClr>
                </a:solidFill>
              </a:rPr>
              <a:t>Balivada Sai Yashwant  |  2310030018  |  CSE</a:t>
            </a:r>
          </a:p>
          <a:p>
            <a:r>
              <a:rPr lang="en-US" b="1" u="sng" dirty="0">
                <a:solidFill>
                  <a:schemeClr val="tx1">
                    <a:lumMod val="95000"/>
                  </a:schemeClr>
                </a:solidFill>
              </a:rPr>
              <a:t>Guided by:</a:t>
            </a:r>
          </a:p>
          <a:p>
            <a:r>
              <a:rPr lang="en-US" dirty="0">
                <a:solidFill>
                  <a:schemeClr val="tx1">
                    <a:lumMod val="95000"/>
                  </a:schemeClr>
                </a:solidFill>
              </a:rPr>
              <a:t>Dr. N Sirisha,  Associate Professor</a:t>
            </a:r>
          </a:p>
        </p:txBody>
      </p:sp>
      <p:sp>
        <p:nvSpPr>
          <p:cNvPr id="4" name="Text Box 3"/>
          <p:cNvSpPr txBox="1"/>
          <p:nvPr/>
        </p:nvSpPr>
        <p:spPr>
          <a:xfrm>
            <a:off x="7329805" y="3035300"/>
            <a:ext cx="309880" cy="368300"/>
          </a:xfrm>
          <a:prstGeom prst="rect">
            <a:avLst/>
          </a:prstGeom>
          <a:noFill/>
        </p:spPr>
        <p:txBody>
          <a:bodyPr wrap="none" rtlCol="0">
            <a:spAutoFit/>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3948" y="550153"/>
            <a:ext cx="9724103" cy="912163"/>
          </a:xfrm>
        </p:spPr>
        <p:txBody>
          <a:bodyPr>
            <a:normAutofit/>
          </a:bodyPr>
          <a:lstStyle/>
          <a:p>
            <a:r>
              <a:rPr lang="en-US" dirty="0"/>
              <a:t>Table of Contents</a:t>
            </a:r>
            <a:endParaRPr lang="en-IN" dirty="0"/>
          </a:p>
        </p:txBody>
      </p:sp>
      <p:sp>
        <p:nvSpPr>
          <p:cNvPr id="3" name="Subtitle 2"/>
          <p:cNvSpPr>
            <a:spLocks noGrp="1"/>
          </p:cNvSpPr>
          <p:nvPr>
            <p:ph type="subTitle" idx="1"/>
          </p:nvPr>
        </p:nvSpPr>
        <p:spPr>
          <a:xfrm>
            <a:off x="1233948" y="1837746"/>
            <a:ext cx="8021813" cy="4233333"/>
          </a:xfrm>
        </p:spPr>
        <p:txBody>
          <a:bodyPr>
            <a:normAutofit lnSpcReduction="10000"/>
          </a:bodyPr>
          <a:lstStyle/>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ABSTRACT</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INTRODUCTION</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OBJECTIVES</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LITERATURE SURVEY</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TECHNOLOGIES USED</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SYSTEM ARCHITECTURE</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PROPOSED METHOD</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SYSTEM WORKFLOW</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DATASET DETAILS</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KEY FEATURES</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ADVANTAGES &amp; LIMITATIONS</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FUTURE ENHANCEMENTS</a:t>
            </a: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CONCLUSION &amp; REFERENCES</a:t>
            </a:r>
          </a:p>
        </p:txBody>
      </p:sp>
    </p:spTree>
    <p:extLst>
      <p:ext uri="{BB962C8B-B14F-4D97-AF65-F5344CB8AC3E}">
        <p14:creationId xmlns:p14="http://schemas.microsoft.com/office/powerpoint/2010/main" val="4214619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65057" y="2858250"/>
            <a:ext cx="4486656" cy="1141497"/>
          </a:xfrm>
        </p:spPr>
        <p:txBody>
          <a:bodyPr/>
          <a:lstStyle/>
          <a:p>
            <a:r>
              <a:rPr lang="en-US" dirty="0"/>
              <a:t>ABSTRACT</a:t>
            </a:r>
            <a:endParaRPr lang="en-IN" dirty="0"/>
          </a:p>
        </p:txBody>
      </p:sp>
      <p:sp>
        <p:nvSpPr>
          <p:cNvPr id="5" name="Title 1"/>
          <p:cNvSpPr>
            <a:spLocks noGrp="1"/>
          </p:cNvSpPr>
          <p:nvPr>
            <p:ph idx="1"/>
          </p:nvPr>
        </p:nvSpPr>
        <p:spPr>
          <a:xfrm>
            <a:off x="6322142" y="218767"/>
            <a:ext cx="5692877" cy="6420465"/>
          </a:xfrm>
          <a:noFill/>
          <a:ln w="38100">
            <a:solidFill>
              <a:srgbClr val="404040">
                <a:alpha val="57000"/>
              </a:srgbClr>
            </a:solidFill>
          </a:ln>
        </p:spPr>
        <p:txBody>
          <a:bodyPr>
            <a:normAutofit/>
          </a:bodyPr>
          <a:lstStyle/>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This project develops a Smart Stock Market Analysis System using Big Data technologies. Apache Spark (PySpark) processes and analyzes stock price data efficiently, enabling scalable analytics on large datasets using Spark SQL and Spark DataFrames. A Streamlit-based dashboard provides real-time visualization, AI-based price prediction, and simulated trading with a virtual wallet and transaction history. The system demonstrates how distributed data processing and Machine Learning can combine to support intelligent, data-driven trading decisions.
Tech Stack: </a:t>
            </a:r>
          </a:p>
          <a:p>
            <a:pPr marL="0" indent="0">
              <a:buNone/>
            </a:pPr>
            <a:r>
              <a:rPr lang="en-US" sz="1800" dirty="0">
                <a:latin typeface="Times New Roman" panose="02020603050405020304" pitchFamily="18" charset="0"/>
                <a:cs typeface="Times New Roman" panose="02020603050405020304" pitchFamily="18" charset="0"/>
              </a:rPr>
              <a:t>Apache Spark | PySpark | Spark SQL | Streamlit | Plotly | Scikit-learn | yfinance | Python | VS Code</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1096-BD79-8031-FD5E-BBB09CEAB30D}"/>
              </a:ext>
            </a:extLst>
          </p:cNvPr>
          <p:cNvSpPr>
            <a:spLocks noGrp="1"/>
          </p:cNvSpPr>
          <p:nvPr>
            <p:ph type="ctrTitle"/>
          </p:nvPr>
        </p:nvSpPr>
        <p:spPr>
          <a:xfrm>
            <a:off x="1384539" y="442602"/>
            <a:ext cx="8991600" cy="1403451"/>
          </a:xfrm>
        </p:spPr>
        <p:txBody>
          <a:bodyPr/>
          <a:lstStyle/>
          <a:p>
            <a:r>
              <a:rPr lang="en-IN" dirty="0"/>
              <a:t>INTRODUCTION</a:t>
            </a:r>
          </a:p>
        </p:txBody>
      </p:sp>
      <p:sp>
        <p:nvSpPr>
          <p:cNvPr id="3" name="ContentBody"/>
          <p:cNvSpPr txBox="1"/>
          <p:nvPr/>
        </p:nvSpPr>
        <p:spPr>
          <a:xfrm>
            <a:off x="1319841" y="2018581"/>
            <a:ext cx="9056297" cy="4396817"/>
          </a:xfrm>
        </p:spPr>
        <p:txBody>
          <a:bodyPr>
            <a:normAutofit/>
          </a:bodyPr>
          <a:lstStyle/>
          <a:p>
            <a:pPr algn="l">
              <a:lnSpc>
                <a:spcPts val="3000"/>
              </a:lnSpc>
            </a:pPr>
            <a:r>
              <a:rPr lang="en-US" sz="1600" dirty="0"/>
              <a:t>The stock market generates massive volumes of real-time financial data including prices, volumes, and market indicators.</a:t>
            </a:r>
          </a:p>
          <a:p>
            <a:pPr algn="l">
              <a:lnSpc>
                <a:spcPts val="3000"/>
              </a:lnSpc>
            </a:pPr>
            <a:r>
              <a:rPr lang="en-US" sz="1600" dirty="0"/>
              <a:t>Analyzing large-scale, continuously evolving data requires efficient distributed processing beyond traditional single-machine tools.</a:t>
            </a:r>
          </a:p>
          <a:p>
            <a:pPr algn="l">
              <a:lnSpc>
                <a:spcPts val="2800"/>
              </a:lnSpc>
            </a:pPr>
            <a:r>
              <a:rPr lang="en-US" sz="1600" b="1" dirty="0"/>
              <a:t>This project builds a Smart Stock Market Dashboard combining:</a:t>
            </a:r>
          </a:p>
          <a:p>
            <a:pPr algn="l">
              <a:lnSpc>
                <a:spcPts val="2800"/>
              </a:lnSpc>
            </a:pPr>
            <a:r>
              <a:rPr lang="en-US" sz="1500" dirty="0"/>
              <a:t>•  Apache Spark (PySpark) — Distributed Big Data processing and aggregation</a:t>
            </a:r>
          </a:p>
          <a:p>
            <a:pPr algn="l">
              <a:lnSpc>
                <a:spcPts val="2800"/>
              </a:lnSpc>
            </a:pPr>
            <a:r>
              <a:rPr lang="en-US" sz="1500" dirty="0"/>
              <a:t>•  Yahoo Finance API (yfinance) — Near real-time stock data ingestion</a:t>
            </a:r>
          </a:p>
          <a:p>
            <a:pPr algn="l">
              <a:lnSpc>
                <a:spcPts val="2800"/>
              </a:lnSpc>
            </a:pPr>
            <a:r>
              <a:rPr lang="en-US" sz="1500" dirty="0"/>
              <a:t>•  Machine Learning (Linear Regression) — AI-based next price prediction</a:t>
            </a:r>
          </a:p>
          <a:p>
            <a:pPr algn="l">
              <a:lnSpc>
                <a:spcPts val="2800"/>
              </a:lnSpc>
            </a:pPr>
            <a:r>
              <a:rPr lang="en-US" sz="1500" dirty="0"/>
              <a:t>•  Streamlit + Plotly — Interactive visualization and trading simulation</a:t>
            </a:r>
          </a:p>
          <a:p>
            <a:pPr algn="l">
              <a:lnSpc>
                <a:spcPts val="2800"/>
              </a:lnSpc>
            </a:pPr>
            <a:endParaRPr lang="en-US" sz="1500" dirty="0"/>
          </a:p>
          <a:p>
            <a:pPr algn="l">
              <a:lnSpc>
                <a:spcPts val="2800"/>
              </a:lnSpc>
            </a:pPr>
            <a:r>
              <a:rPr lang="en-US" sz="1600" b="1" dirty="0"/>
              <a:t>Result:  A scalable, intelligent and user-friendly stock trading analytics platform.</a:t>
            </a:r>
          </a:p>
        </p:txBody>
      </p:sp>
    </p:spTree>
    <p:extLst>
      <p:ext uri="{BB962C8B-B14F-4D97-AF65-F5344CB8AC3E}">
        <p14:creationId xmlns:p14="http://schemas.microsoft.com/office/powerpoint/2010/main" val="416446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4E86-3711-92D3-C228-F7B51ED7B5C5}"/>
              </a:ext>
            </a:extLst>
          </p:cNvPr>
          <p:cNvSpPr>
            <a:spLocks noGrp="1"/>
          </p:cNvSpPr>
          <p:nvPr>
            <p:ph type="ctrTitle"/>
          </p:nvPr>
        </p:nvSpPr>
        <p:spPr>
          <a:xfrm>
            <a:off x="1306902" y="540691"/>
            <a:ext cx="8991600" cy="1305362"/>
          </a:xfrm>
        </p:spPr>
        <p:txBody>
          <a:bodyPr/>
          <a:lstStyle/>
          <a:p>
            <a:r>
              <a:rPr lang="en-IN" dirty="0"/>
              <a:t>LITERATURE SURVEY</a:t>
            </a:r>
          </a:p>
        </p:txBody>
      </p:sp>
      <p:sp>
        <p:nvSpPr>
          <p:cNvPr id="3" name="ContentBody"/>
          <p:cNvSpPr txBox="1"/>
          <p:nvPr/>
        </p:nvSpPr>
        <p:spPr>
          <a:xfrm>
            <a:off x="1117599" y="2133600"/>
            <a:ext cx="9561903" cy="4258574"/>
          </a:xfrm>
        </p:spPr>
        <p:txBody>
          <a:bodyPr>
            <a:normAutofit/>
          </a:bodyPr>
          <a:lstStyle/>
          <a:p>
            <a:pPr algn="l">
              <a:lnSpc>
                <a:spcPts val="2800"/>
              </a:lnSpc>
            </a:pPr>
            <a:endParaRPr lang="en-US" sz="1400" dirty="0"/>
          </a:p>
        </p:txBody>
      </p:sp>
      <p:graphicFrame>
        <p:nvGraphicFramePr>
          <p:cNvPr id="4" name="Table 3">
            <a:extLst>
              <a:ext uri="{FF2B5EF4-FFF2-40B4-BE49-F238E27FC236}">
                <a16:creationId xmlns:a16="http://schemas.microsoft.com/office/drawing/2014/main" id="{F79F579E-4065-A7EB-E6F9-9E672907D45A}"/>
              </a:ext>
            </a:extLst>
          </p:cNvPr>
          <p:cNvGraphicFramePr>
            <a:graphicFrameLocks noGrp="1"/>
          </p:cNvGraphicFramePr>
          <p:nvPr>
            <p:extLst>
              <p:ext uri="{D42A27DB-BD31-4B8C-83A1-F6EECF244321}">
                <p14:modId xmlns:p14="http://schemas.microsoft.com/office/powerpoint/2010/main" val="3089926250"/>
              </p:ext>
            </p:extLst>
          </p:nvPr>
        </p:nvGraphicFramePr>
        <p:xfrm>
          <a:off x="866276" y="1942454"/>
          <a:ext cx="10208125" cy="4640866"/>
        </p:xfrm>
        <a:graphic>
          <a:graphicData uri="http://schemas.openxmlformats.org/drawingml/2006/table">
            <a:tbl>
              <a:tblPr firstRow="1" bandRow="1">
                <a:tableStyleId>{073A0DAA-6AF3-43AB-8588-CEC1D06C72B9}</a:tableStyleId>
              </a:tblPr>
              <a:tblGrid>
                <a:gridCol w="2041625">
                  <a:extLst>
                    <a:ext uri="{9D8B030D-6E8A-4147-A177-3AD203B41FA5}">
                      <a16:colId xmlns:a16="http://schemas.microsoft.com/office/drawing/2014/main" val="3974836395"/>
                    </a:ext>
                  </a:extLst>
                </a:gridCol>
                <a:gridCol w="2041625">
                  <a:extLst>
                    <a:ext uri="{9D8B030D-6E8A-4147-A177-3AD203B41FA5}">
                      <a16:colId xmlns:a16="http://schemas.microsoft.com/office/drawing/2014/main" val="743744649"/>
                    </a:ext>
                  </a:extLst>
                </a:gridCol>
                <a:gridCol w="2041625">
                  <a:extLst>
                    <a:ext uri="{9D8B030D-6E8A-4147-A177-3AD203B41FA5}">
                      <a16:colId xmlns:a16="http://schemas.microsoft.com/office/drawing/2014/main" val="2249422237"/>
                    </a:ext>
                  </a:extLst>
                </a:gridCol>
                <a:gridCol w="2041625">
                  <a:extLst>
                    <a:ext uri="{9D8B030D-6E8A-4147-A177-3AD203B41FA5}">
                      <a16:colId xmlns:a16="http://schemas.microsoft.com/office/drawing/2014/main" val="3093077391"/>
                    </a:ext>
                  </a:extLst>
                </a:gridCol>
                <a:gridCol w="2041625">
                  <a:extLst>
                    <a:ext uri="{9D8B030D-6E8A-4147-A177-3AD203B41FA5}">
                      <a16:colId xmlns:a16="http://schemas.microsoft.com/office/drawing/2014/main" val="53820470"/>
                    </a:ext>
                  </a:extLst>
                </a:gridCol>
              </a:tblGrid>
              <a:tr h="983266">
                <a:tc>
                  <a:txBody>
                    <a:bodyPr/>
                    <a:lstStyle/>
                    <a:p>
                      <a:pPr>
                        <a:buNone/>
                      </a:pPr>
                      <a:r>
                        <a:rPr lang="en-IN" dirty="0"/>
                        <a:t>Paper</a:t>
                      </a:r>
                    </a:p>
                  </a:txBody>
                  <a:tcPr anchor="ctr"/>
                </a:tc>
                <a:tc>
                  <a:txBody>
                    <a:bodyPr/>
                    <a:lstStyle/>
                    <a:p>
                      <a:pPr>
                        <a:buNone/>
                      </a:pPr>
                      <a:r>
                        <a:rPr lang="en-IN"/>
                        <a:t>Method</a:t>
                      </a:r>
                    </a:p>
                  </a:txBody>
                  <a:tcPr anchor="ctr"/>
                </a:tc>
                <a:tc>
                  <a:txBody>
                    <a:bodyPr/>
                    <a:lstStyle/>
                    <a:p>
                      <a:pPr>
                        <a:buNone/>
                      </a:pPr>
                      <a:r>
                        <a:rPr lang="en-IN"/>
                        <a:t>Drawbacks</a:t>
                      </a:r>
                    </a:p>
                  </a:txBody>
                  <a:tcPr anchor="ctr"/>
                </a:tc>
                <a:tc>
                  <a:txBody>
                    <a:bodyPr/>
                    <a:lstStyle/>
                    <a:p>
                      <a:pPr>
                        <a:buNone/>
                      </a:pPr>
                      <a:r>
                        <a:rPr lang="en-IN"/>
                        <a:t>Future Directions</a:t>
                      </a:r>
                    </a:p>
                  </a:txBody>
                  <a:tcPr anchor="ctr"/>
                </a:tc>
                <a:tc>
                  <a:txBody>
                    <a:bodyPr/>
                    <a:lstStyle/>
                    <a:p>
                      <a:pPr>
                        <a:buNone/>
                      </a:pPr>
                      <a:r>
                        <a:rPr lang="en-IN" dirty="0"/>
                        <a:t>Link</a:t>
                      </a:r>
                    </a:p>
                  </a:txBody>
                  <a:tcPr anchor="ctr"/>
                </a:tc>
                <a:extLst>
                  <a:ext uri="{0D108BD9-81ED-4DB2-BD59-A6C34878D82A}">
                    <a16:rowId xmlns:a16="http://schemas.microsoft.com/office/drawing/2014/main" val="2444671701"/>
                  </a:ext>
                </a:extLst>
              </a:tr>
              <a:tr h="749281">
                <a:tc>
                  <a:txBody>
                    <a:bodyPr/>
                    <a:lstStyle/>
                    <a:p>
                      <a:pPr>
                        <a:buNone/>
                      </a:pPr>
                      <a:r>
                        <a:rPr lang="en-US" dirty="0"/>
                        <a:t>Stock Price Prediction using LSTM</a:t>
                      </a:r>
                    </a:p>
                  </a:txBody>
                  <a:tcPr anchor="ctr"/>
                </a:tc>
                <a:tc>
                  <a:txBody>
                    <a:bodyPr/>
                    <a:lstStyle/>
                    <a:p>
                      <a:r>
                        <a:rPr lang="en-IN" dirty="0"/>
                        <a:t>Deep learning time-series forecasting</a:t>
                      </a:r>
                    </a:p>
                  </a:txBody>
                  <a:tcPr/>
                </a:tc>
                <a:tc>
                  <a:txBody>
                    <a:bodyPr/>
                    <a:lstStyle/>
                    <a:p>
                      <a:r>
                        <a:rPr lang="en-IN" dirty="0"/>
                        <a:t>Requires large historical datasets</a:t>
                      </a:r>
                    </a:p>
                  </a:txBody>
                  <a:tcPr/>
                </a:tc>
                <a:tc>
                  <a:txBody>
                    <a:bodyPr/>
                    <a:lstStyle/>
                    <a:p>
                      <a:r>
                        <a:rPr lang="en-IN" dirty="0"/>
                        <a:t>Hybrid deep learning models</a:t>
                      </a:r>
                    </a:p>
                  </a:txBody>
                  <a:tcPr/>
                </a:tc>
                <a:tc>
                  <a:txBody>
                    <a:bodyPr/>
                    <a:lstStyle/>
                    <a:p>
                      <a:r>
                        <a:rPr lang="en-IN" dirty="0">
                          <a:hlinkClick r:id="rId2"/>
                        </a:rPr>
                        <a:t>https://ieeexplore.ieee.org</a:t>
                      </a:r>
                      <a:endParaRPr lang="en-IN" dirty="0"/>
                    </a:p>
                  </a:txBody>
                  <a:tcPr/>
                </a:tc>
                <a:extLst>
                  <a:ext uri="{0D108BD9-81ED-4DB2-BD59-A6C34878D82A}">
                    <a16:rowId xmlns:a16="http://schemas.microsoft.com/office/drawing/2014/main" val="142516311"/>
                  </a:ext>
                </a:extLst>
              </a:tr>
              <a:tr h="569669">
                <a:tc>
                  <a:txBody>
                    <a:bodyPr/>
                    <a:lstStyle/>
                    <a:p>
                      <a:r>
                        <a:rPr lang="en-US" dirty="0"/>
                        <a:t>Machine Learning in Stock Market Prediction</a:t>
                      </a:r>
                      <a:endParaRPr lang="en-IN" dirty="0"/>
                    </a:p>
                  </a:txBody>
                  <a:tcPr/>
                </a:tc>
                <a:tc>
                  <a:txBody>
                    <a:bodyPr/>
                    <a:lstStyle/>
                    <a:p>
                      <a:r>
                        <a:rPr lang="en-IN" dirty="0"/>
                        <a:t>ML regression &amp; classification models</a:t>
                      </a:r>
                    </a:p>
                  </a:txBody>
                  <a:tcPr/>
                </a:tc>
                <a:tc>
                  <a:txBody>
                    <a:bodyPr/>
                    <a:lstStyle/>
                    <a:p>
                      <a:r>
                        <a:rPr lang="en-US" dirty="0"/>
                        <a:t>Limited accuracy during volatile markets</a:t>
                      </a:r>
                      <a:endParaRPr lang="en-IN" dirty="0"/>
                    </a:p>
                  </a:txBody>
                  <a:tcPr/>
                </a:tc>
                <a:tc>
                  <a:txBody>
                    <a:bodyPr/>
                    <a:lstStyle/>
                    <a:p>
                      <a:r>
                        <a:rPr lang="en-IN" dirty="0"/>
                        <a:t>Reinforcement learning trading models</a:t>
                      </a:r>
                    </a:p>
                  </a:txBody>
                  <a:tcPr/>
                </a:tc>
                <a:tc>
                  <a:txBody>
                    <a:bodyPr/>
                    <a:lstStyle/>
                    <a:p>
                      <a:r>
                        <a:rPr lang="en-IN" dirty="0">
                          <a:hlinkClick r:id="rId3"/>
                        </a:rPr>
                        <a:t>https://arxiv.org</a:t>
                      </a:r>
                      <a:endParaRPr lang="en-IN" dirty="0"/>
                    </a:p>
                  </a:txBody>
                  <a:tcPr/>
                </a:tc>
                <a:extLst>
                  <a:ext uri="{0D108BD9-81ED-4DB2-BD59-A6C34878D82A}">
                    <a16:rowId xmlns:a16="http://schemas.microsoft.com/office/drawing/2014/main" val="1352547692"/>
                  </a:ext>
                </a:extLst>
              </a:tr>
              <a:tr h="569669">
                <a:tc>
                  <a:txBody>
                    <a:bodyPr/>
                    <a:lstStyle/>
                    <a:p>
                      <a:r>
                        <a:rPr lang="en-US" dirty="0"/>
                        <a:t>Real-Time Financial Data Analytics using Apache Spark</a:t>
                      </a:r>
                      <a:endParaRPr lang="en-IN" dirty="0"/>
                    </a:p>
                  </a:txBody>
                  <a:tcPr/>
                </a:tc>
                <a:tc>
                  <a:txBody>
                    <a:bodyPr/>
                    <a:lstStyle/>
                    <a:p>
                      <a:r>
                        <a:rPr lang="en-IN" dirty="0"/>
                        <a:t>Distributed data processing</a:t>
                      </a:r>
                    </a:p>
                  </a:txBody>
                  <a:tcPr/>
                </a:tc>
                <a:tc>
                  <a:txBody>
                    <a:bodyPr/>
                    <a:lstStyle/>
                    <a:p>
                      <a:r>
                        <a:rPr lang="en-IN" dirty="0"/>
                        <a:t>Infrastructure complexity</a:t>
                      </a:r>
                    </a:p>
                  </a:txBody>
                  <a:tcPr/>
                </a:tc>
                <a:tc>
                  <a:txBody>
                    <a:bodyPr/>
                    <a:lstStyle/>
                    <a:p>
                      <a:r>
                        <a:rPr lang="en-IN" dirty="0"/>
                        <a:t>Spark structured streaming integration</a:t>
                      </a:r>
                    </a:p>
                  </a:txBody>
                  <a:tcPr/>
                </a:tc>
                <a:tc>
                  <a:txBody>
                    <a:bodyPr/>
                    <a:lstStyle/>
                    <a:p>
                      <a:r>
                        <a:rPr lang="en-IN" dirty="0">
                          <a:hlinkClick r:id="rId4"/>
                        </a:rPr>
                        <a:t>https://spark.apache.org</a:t>
                      </a:r>
                      <a:endParaRPr lang="en-IN" dirty="0"/>
                    </a:p>
                  </a:txBody>
                  <a:tcPr/>
                </a:tc>
                <a:extLst>
                  <a:ext uri="{0D108BD9-81ED-4DB2-BD59-A6C34878D82A}">
                    <a16:rowId xmlns:a16="http://schemas.microsoft.com/office/drawing/2014/main" val="1675858329"/>
                  </a:ext>
                </a:extLst>
              </a:tr>
              <a:tr h="569669">
                <a:tc>
                  <a:txBody>
                    <a:bodyPr/>
                    <a:lstStyle/>
                    <a:p>
                      <a:r>
                        <a:rPr lang="en-US" dirty="0"/>
                        <a:t>Financial Market Analysis using Technical Indicators</a:t>
                      </a:r>
                      <a:endParaRPr lang="en-IN" dirty="0"/>
                    </a:p>
                  </a:txBody>
                  <a:tcPr/>
                </a:tc>
                <a:tc>
                  <a:txBody>
                    <a:bodyPr/>
                    <a:lstStyle/>
                    <a:p>
                      <a:r>
                        <a:rPr lang="en-IN" dirty="0"/>
                        <a:t>Distributed data processing</a:t>
                      </a:r>
                    </a:p>
                  </a:txBody>
                  <a:tcPr/>
                </a:tc>
                <a:tc>
                  <a:txBody>
                    <a:bodyPr/>
                    <a:lstStyle/>
                    <a:p>
                      <a:r>
                        <a:rPr lang="en-US" dirty="0"/>
                        <a:t>Cannot capture complex market dynamics</a:t>
                      </a:r>
                      <a:endParaRPr lang="en-IN" dirty="0"/>
                    </a:p>
                  </a:txBody>
                  <a:tcPr/>
                </a:tc>
                <a:tc>
                  <a:txBody>
                    <a:bodyPr/>
                    <a:lstStyle/>
                    <a:p>
                      <a:r>
                        <a:rPr lang="en-IN" dirty="0"/>
                        <a:t>AI-driven trading strategies</a:t>
                      </a:r>
                    </a:p>
                  </a:txBody>
                  <a:tcPr/>
                </a:tc>
                <a:tc>
                  <a:txBody>
                    <a:bodyPr/>
                    <a:lstStyle/>
                    <a:p>
                      <a:r>
                        <a:rPr lang="en-IN" dirty="0">
                          <a:hlinkClick r:id="rId5"/>
                        </a:rPr>
                        <a:t>https://www.sciencedirect.com</a:t>
                      </a:r>
                      <a:endParaRPr lang="en-IN" dirty="0"/>
                    </a:p>
                  </a:txBody>
                  <a:tcPr/>
                </a:tc>
                <a:extLst>
                  <a:ext uri="{0D108BD9-81ED-4DB2-BD59-A6C34878D82A}">
                    <a16:rowId xmlns:a16="http://schemas.microsoft.com/office/drawing/2014/main" val="2986149833"/>
                  </a:ext>
                </a:extLst>
              </a:tr>
            </a:tbl>
          </a:graphicData>
        </a:graphic>
      </p:graphicFrame>
    </p:spTree>
    <p:extLst>
      <p:ext uri="{BB962C8B-B14F-4D97-AF65-F5344CB8AC3E}">
        <p14:creationId xmlns:p14="http://schemas.microsoft.com/office/powerpoint/2010/main" val="3321107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4F638-1F7F-7E0A-6DB7-68C4C180B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66B02-FAFB-E463-A49B-710442E4B9DF}"/>
              </a:ext>
            </a:extLst>
          </p:cNvPr>
          <p:cNvSpPr>
            <a:spLocks noGrp="1"/>
          </p:cNvSpPr>
          <p:nvPr>
            <p:ph type="ctrTitle"/>
          </p:nvPr>
        </p:nvSpPr>
        <p:spPr>
          <a:xfrm>
            <a:off x="1600200" y="416378"/>
            <a:ext cx="8991600" cy="1239894"/>
          </a:xfrm>
        </p:spPr>
        <p:txBody>
          <a:bodyPr/>
          <a:lstStyle/>
          <a:p>
            <a:r>
              <a:rPr lang="en-US" dirty="0"/>
              <a:t>P</a:t>
            </a:r>
            <a:r>
              <a:rPr lang="en-IN" dirty="0"/>
              <a:t>ROBLEM STATEMENT</a:t>
            </a:r>
          </a:p>
        </p:txBody>
      </p:sp>
      <p:sp>
        <p:nvSpPr>
          <p:cNvPr id="3" name="ContentBody">
            <a:extLst>
              <a:ext uri="{FF2B5EF4-FFF2-40B4-BE49-F238E27FC236}">
                <a16:creationId xmlns:a16="http://schemas.microsoft.com/office/drawing/2014/main" id="{404E7EDF-AE58-C6A4-D1F1-BC8C2E503233}"/>
              </a:ext>
            </a:extLst>
          </p:cNvPr>
          <p:cNvSpPr txBox="1"/>
          <p:nvPr/>
        </p:nvSpPr>
        <p:spPr>
          <a:xfrm>
            <a:off x="665671" y="2009955"/>
            <a:ext cx="10877910" cy="4244196"/>
          </a:xfrm>
        </p:spPr>
        <p:txBody>
          <a:bodyPr>
            <a:normAutofit/>
          </a:bodyPr>
          <a:lstStyle/>
          <a:p>
            <a:pPr>
              <a:buNone/>
            </a:pPr>
            <a:r>
              <a:rPr lang="en-US" sz="2000" dirty="0"/>
              <a:t>Financial markets generate large volumes of real-time data that are difficult to analyze using traditional tools. Investors often rely on limited indicators or manual analysis, which may lead to inaccurate trading decisions. There is a need for a system that can process large-scale financial data efficiently, generate insights using data analytics and machine learning, and present the results through an interactive dashboard for better decision making.</a:t>
            </a:r>
          </a:p>
          <a:p>
            <a:pPr>
              <a:buNone/>
            </a:pPr>
            <a:endParaRPr lang="en-US" sz="1600" dirty="0"/>
          </a:p>
          <a:p>
            <a:pPr>
              <a:buNone/>
            </a:pPr>
            <a:endParaRPr lang="en-US" sz="1600" dirty="0"/>
          </a:p>
          <a:p>
            <a:pPr>
              <a:buNone/>
            </a:pPr>
            <a:r>
              <a:rPr lang="en-US" sz="2400" dirty="0"/>
              <a:t>The goal of this project is to build a </a:t>
            </a:r>
            <a:r>
              <a:rPr lang="en-US" sz="2400" b="1" dirty="0"/>
              <a:t>Big Data Stock Market Analytics system</a:t>
            </a:r>
            <a:r>
              <a:rPr lang="en-US" sz="2400" dirty="0"/>
              <a:t> that uses </a:t>
            </a:r>
            <a:r>
              <a:rPr lang="en-US" sz="2400" b="1" dirty="0"/>
              <a:t>Apache Spark for large-scale data processing</a:t>
            </a:r>
            <a:r>
              <a:rPr lang="en-US" sz="2400" dirty="0"/>
              <a:t> and provides an </a:t>
            </a:r>
            <a:r>
              <a:rPr lang="en-US" sz="2400" b="1" dirty="0"/>
              <a:t>interactive dashboard with AI-based prediction, trading signals, and simulated trading features</a:t>
            </a:r>
            <a:r>
              <a:rPr lang="en-US" sz="2400" dirty="0"/>
              <a:t>.</a:t>
            </a:r>
          </a:p>
        </p:txBody>
      </p:sp>
    </p:spTree>
    <p:extLst>
      <p:ext uri="{BB962C8B-B14F-4D97-AF65-F5344CB8AC3E}">
        <p14:creationId xmlns:p14="http://schemas.microsoft.com/office/powerpoint/2010/main" val="1423966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9D270-5930-A752-C240-2963D29B2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E6314-B4AA-32D1-8A1D-AFE1B9F16ED0}"/>
              </a:ext>
            </a:extLst>
          </p:cNvPr>
          <p:cNvSpPr>
            <a:spLocks noGrp="1"/>
          </p:cNvSpPr>
          <p:nvPr>
            <p:ph type="ctrTitle"/>
          </p:nvPr>
        </p:nvSpPr>
        <p:spPr>
          <a:xfrm>
            <a:off x="1600200" y="416378"/>
            <a:ext cx="8991600" cy="1239894"/>
          </a:xfrm>
        </p:spPr>
        <p:txBody>
          <a:bodyPr/>
          <a:lstStyle/>
          <a:p>
            <a:r>
              <a:rPr lang="en-US" dirty="0"/>
              <a:t>EXISTING SYSTEM</a:t>
            </a:r>
            <a:endParaRPr lang="en-IN" dirty="0"/>
          </a:p>
        </p:txBody>
      </p:sp>
      <p:sp>
        <p:nvSpPr>
          <p:cNvPr id="3" name="ContentBody">
            <a:extLst>
              <a:ext uri="{FF2B5EF4-FFF2-40B4-BE49-F238E27FC236}">
                <a16:creationId xmlns:a16="http://schemas.microsoft.com/office/drawing/2014/main" id="{C4CD5AD1-A6C1-794E-B652-FE4EF7D38A20}"/>
              </a:ext>
            </a:extLst>
          </p:cNvPr>
          <p:cNvSpPr txBox="1"/>
          <p:nvPr/>
        </p:nvSpPr>
        <p:spPr>
          <a:xfrm>
            <a:off x="665671" y="2009955"/>
            <a:ext cx="10877910" cy="4244196"/>
          </a:xfrm>
        </p:spPr>
        <p:txBody>
          <a:bodyPr>
            <a:normAutofit/>
          </a:bodyPr>
          <a:lstStyle/>
          <a:p>
            <a:r>
              <a:rPr lang="en-US" sz="2000" dirty="0"/>
              <a:t>Currently, investors use platforms such as </a:t>
            </a:r>
            <a:r>
              <a:rPr lang="en-US" sz="2000" b="1" dirty="0"/>
              <a:t>Angel One, </a:t>
            </a:r>
            <a:r>
              <a:rPr lang="en-US" sz="2000" b="1" dirty="0" err="1"/>
              <a:t>Groww</a:t>
            </a:r>
            <a:r>
              <a:rPr lang="en-US" sz="2000" b="1" dirty="0"/>
              <a:t>, and </a:t>
            </a:r>
            <a:r>
              <a:rPr lang="en-US" sz="2000" b="1" dirty="0" err="1"/>
              <a:t>Zerodha</a:t>
            </a:r>
            <a:r>
              <a:rPr lang="en-US" sz="2000" dirty="0"/>
              <a:t> for stock analysis and trading.</a:t>
            </a:r>
          </a:p>
          <a:p>
            <a:endParaRPr lang="en-US" sz="2000" dirty="0"/>
          </a:p>
          <a:p>
            <a:r>
              <a:rPr lang="en-US" sz="2000" b="1" dirty="0"/>
              <a:t>Features of Existing Systems</a:t>
            </a:r>
          </a:p>
          <a:p>
            <a:r>
              <a:rPr lang="en-US" sz="2000" dirty="0"/>
              <a:t>Provide stock price charts and technical indicators</a:t>
            </a:r>
          </a:p>
          <a:p>
            <a:r>
              <a:rPr lang="en-US" sz="2000" dirty="0"/>
              <a:t>Enable real trading with brokerage accounts</a:t>
            </a:r>
          </a:p>
          <a:p>
            <a:r>
              <a:rPr lang="en-US" sz="2000" dirty="0"/>
              <a:t>Provide portfolio management tools</a:t>
            </a:r>
          </a:p>
          <a:p>
            <a:endParaRPr lang="en-US" sz="2000" dirty="0"/>
          </a:p>
          <a:p>
            <a:r>
              <a:rPr lang="en-US" sz="2000" b="1" dirty="0"/>
              <a:t>Limitations</a:t>
            </a:r>
          </a:p>
          <a:p>
            <a:r>
              <a:rPr lang="en-US" sz="2000" dirty="0"/>
              <a:t>Internal analytics algorithms are not transparent</a:t>
            </a:r>
          </a:p>
          <a:p>
            <a:r>
              <a:rPr lang="en-US" sz="2000" dirty="0"/>
              <a:t>Limited customization for research and experimentation</a:t>
            </a:r>
          </a:p>
          <a:p>
            <a:r>
              <a:rPr lang="en-US" sz="2000" dirty="0"/>
              <a:t>Do not demonstrate underlying big-data processing pipelines</a:t>
            </a:r>
          </a:p>
          <a:p>
            <a:r>
              <a:rPr lang="en-US" sz="2000" dirty="0"/>
              <a:t>Educational understanding of data processing and prediction models is limited</a:t>
            </a:r>
          </a:p>
          <a:p>
            <a:pPr>
              <a:buNone/>
            </a:pPr>
            <a:endParaRPr lang="en-US" sz="2000" dirty="0"/>
          </a:p>
        </p:txBody>
      </p:sp>
    </p:spTree>
    <p:extLst>
      <p:ext uri="{BB962C8B-B14F-4D97-AF65-F5344CB8AC3E}">
        <p14:creationId xmlns:p14="http://schemas.microsoft.com/office/powerpoint/2010/main" val="3591817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245" y="493849"/>
            <a:ext cx="7551173" cy="912163"/>
          </a:xfrm>
        </p:spPr>
        <p:txBody>
          <a:bodyPr>
            <a:normAutofit/>
          </a:bodyPr>
          <a:lstStyle/>
          <a:p>
            <a:r>
              <a:rPr lang="en-US" dirty="0"/>
              <a:t>OBJECTIVES</a:t>
            </a:r>
            <a:endParaRPr lang="en-IN" dirty="0"/>
          </a:p>
        </p:txBody>
      </p:sp>
      <p:sp>
        <p:nvSpPr>
          <p:cNvPr id="5" name="ContentBody"/>
          <p:cNvSpPr txBox="1"/>
          <p:nvPr/>
        </p:nvSpPr>
        <p:spPr>
          <a:xfrm>
            <a:off x="469813" y="1594497"/>
            <a:ext cx="11272035" cy="4769654"/>
          </a:xfrm>
        </p:spPr>
        <p:txBody>
          <a:bodyPr/>
          <a:lstStyle/>
          <a:p>
            <a:pPr>
              <a:buNone/>
            </a:pPr>
            <a:r>
              <a:rPr lang="en-US" sz="1600" dirty="0"/>
              <a:t>• </a:t>
            </a:r>
            <a:r>
              <a:rPr lang="en-US" sz="1600" b="1" dirty="0"/>
              <a:t>Big Data Stock Analysis</a:t>
            </a:r>
            <a:br>
              <a:rPr lang="en-US" sz="1600" dirty="0"/>
            </a:br>
            <a:r>
              <a:rPr lang="en-US" sz="1600" dirty="0"/>
              <a:t>Analyze large volumes of historical stock market data using Big Data techniques to identify trends, patterns, and market behavior for better trading insights.</a:t>
            </a:r>
          </a:p>
          <a:p>
            <a:pPr>
              <a:buNone/>
            </a:pPr>
            <a:endParaRPr lang="en-US" sz="1600" dirty="0"/>
          </a:p>
          <a:p>
            <a:pPr>
              <a:buNone/>
            </a:pPr>
            <a:r>
              <a:rPr lang="en-US" sz="1600" dirty="0"/>
              <a:t>• </a:t>
            </a:r>
            <a:r>
              <a:rPr lang="en-US" sz="1600" b="1" dirty="0"/>
              <a:t>Scalable Processing with Apache Spark</a:t>
            </a:r>
            <a:br>
              <a:rPr lang="en-US" sz="1600" dirty="0"/>
            </a:br>
            <a:r>
              <a:rPr lang="en-US" sz="1600" dirty="0"/>
              <a:t>Use Apache Spark (</a:t>
            </a:r>
            <a:r>
              <a:rPr lang="en-US" sz="1600" dirty="0" err="1"/>
              <a:t>PySpark</a:t>
            </a:r>
            <a:r>
              <a:rPr lang="en-US" sz="1600" dirty="0"/>
              <a:t>) to process and aggregate large stock datasets efficiently, enabling fast and scalable data analytics.</a:t>
            </a:r>
          </a:p>
          <a:p>
            <a:pPr>
              <a:buNone/>
            </a:pPr>
            <a:endParaRPr lang="en-US" sz="1600" dirty="0"/>
          </a:p>
          <a:p>
            <a:pPr>
              <a:buNone/>
            </a:pPr>
            <a:r>
              <a:rPr lang="en-US" sz="1600" dirty="0"/>
              <a:t>• </a:t>
            </a:r>
            <a:r>
              <a:rPr lang="en-US" sz="1600" b="1" dirty="0"/>
              <a:t>Interactive Trading Dashboard</a:t>
            </a:r>
            <a:br>
              <a:rPr lang="en-US" sz="1600" dirty="0"/>
            </a:br>
            <a:r>
              <a:rPr lang="en-US" sz="1600" dirty="0"/>
              <a:t>Develop a user-friendly dashboard using </a:t>
            </a:r>
            <a:r>
              <a:rPr lang="en-US" sz="1600" dirty="0" err="1"/>
              <a:t>Streamlit</a:t>
            </a:r>
            <a:r>
              <a:rPr lang="en-US" sz="1600" dirty="0"/>
              <a:t> that displays stock performance through dynamic visualizations such as live candlestick charts.</a:t>
            </a:r>
          </a:p>
          <a:p>
            <a:pPr>
              <a:buNone/>
            </a:pPr>
            <a:endParaRPr lang="en-US" sz="1600" dirty="0"/>
          </a:p>
          <a:p>
            <a:pPr>
              <a:buNone/>
            </a:pPr>
            <a:r>
              <a:rPr lang="en-US" sz="1600" dirty="0"/>
              <a:t>• </a:t>
            </a:r>
            <a:r>
              <a:rPr lang="en-US" sz="1600" b="1" dirty="0"/>
              <a:t>Automated Trading Signals</a:t>
            </a:r>
            <a:br>
              <a:rPr lang="en-US" sz="1600" dirty="0"/>
            </a:br>
            <a:r>
              <a:rPr lang="en-US" sz="1600" dirty="0"/>
              <a:t>Implement the Moving Average Crossover strategy (MA10 vs MA50) to automatically generate Buy, Sell, or Hold signals for traders.</a:t>
            </a:r>
          </a:p>
          <a:p>
            <a:pPr>
              <a:buNone/>
            </a:pPr>
            <a:endParaRPr lang="en-US" sz="1600" dirty="0"/>
          </a:p>
          <a:p>
            <a:pPr>
              <a:buNone/>
            </a:pPr>
            <a:r>
              <a:rPr lang="en-US" sz="1600" dirty="0"/>
              <a:t>• </a:t>
            </a:r>
            <a:r>
              <a:rPr lang="en-US" sz="1600" b="1" dirty="0"/>
              <a:t>AI-Based Price Prediction</a:t>
            </a:r>
            <a:br>
              <a:rPr lang="en-US" sz="1600" dirty="0"/>
            </a:br>
            <a:r>
              <a:rPr lang="en-US" sz="1600" dirty="0"/>
              <a:t>Integrate Machine Learning using Linear Regression to predict future stock price trends based on historical data.</a:t>
            </a:r>
          </a:p>
          <a:p>
            <a:pPr>
              <a:buNone/>
            </a:pPr>
            <a:endParaRPr lang="en-US" sz="1600" dirty="0"/>
          </a:p>
          <a:p>
            <a:pPr>
              <a:buNone/>
            </a:pPr>
            <a:r>
              <a:rPr lang="en-US" sz="1600" dirty="0"/>
              <a:t>• </a:t>
            </a:r>
            <a:r>
              <a:rPr lang="en-US" sz="1600" b="1" dirty="0"/>
              <a:t>Virtual Trading Simulation</a:t>
            </a:r>
            <a:br>
              <a:rPr lang="en-US" sz="1600" dirty="0"/>
            </a:br>
            <a:r>
              <a:rPr lang="en-US" sz="1600" dirty="0"/>
              <a:t>Create a simulated trading environment with a virtual wallet and transaction tracking to test strategies without real financial risk.</a:t>
            </a:r>
          </a:p>
          <a:p>
            <a:pPr algn="l">
              <a:lnSpc>
                <a:spcPts val="3200"/>
              </a:lnSpc>
            </a:pP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DDD-652B-7175-744D-D2990D9C81D1}"/>
              </a:ext>
            </a:extLst>
          </p:cNvPr>
          <p:cNvSpPr>
            <a:spLocks noGrp="1"/>
          </p:cNvSpPr>
          <p:nvPr>
            <p:ph type="ctrTitle"/>
          </p:nvPr>
        </p:nvSpPr>
        <p:spPr>
          <a:xfrm>
            <a:off x="1600200" y="474454"/>
            <a:ext cx="8991600" cy="1147312"/>
          </a:xfrm>
        </p:spPr>
        <p:txBody>
          <a:bodyPr>
            <a:normAutofit/>
          </a:bodyPr>
          <a:lstStyle/>
          <a:p>
            <a:r>
              <a:rPr lang="en-IN" dirty="0"/>
              <a:t>PROPOSED solution</a:t>
            </a:r>
          </a:p>
        </p:txBody>
      </p:sp>
      <p:sp>
        <p:nvSpPr>
          <p:cNvPr id="3" name="ContentBody"/>
          <p:cNvSpPr txBox="1"/>
          <p:nvPr/>
        </p:nvSpPr>
        <p:spPr>
          <a:xfrm>
            <a:off x="1600199" y="1918735"/>
            <a:ext cx="8991599" cy="4249151"/>
          </a:xfrm>
        </p:spPr>
        <p:txBody>
          <a:bodyPr/>
          <a:lstStyle/>
          <a:p>
            <a:pPr>
              <a:buNone/>
            </a:pPr>
            <a:r>
              <a:rPr lang="en-US" dirty="0"/>
              <a:t>The proposed system </a:t>
            </a:r>
            <a:r>
              <a:rPr lang="en-US" b="1" dirty="0" err="1"/>
              <a:t>SmartStocks</a:t>
            </a:r>
            <a:r>
              <a:rPr lang="en-US" b="1" dirty="0"/>
              <a:t> AI</a:t>
            </a:r>
            <a:r>
              <a:rPr lang="en-US" dirty="0"/>
              <a:t> is a big data–based stock market analytics platform designed to analyze financial data efficiently and present insights through an interactive dashboard. The system integrates </a:t>
            </a:r>
            <a:r>
              <a:rPr lang="en-US" b="1" dirty="0"/>
              <a:t>Apache Spark for large-scale data processing</a:t>
            </a:r>
            <a:r>
              <a:rPr lang="en-US" dirty="0"/>
              <a:t>, </a:t>
            </a:r>
            <a:r>
              <a:rPr lang="en-US" b="1" dirty="0"/>
              <a:t>machine learning for price prediction</a:t>
            </a:r>
            <a:r>
              <a:rPr lang="en-US" dirty="0"/>
              <a:t>, and a </a:t>
            </a:r>
            <a:r>
              <a:rPr lang="en-US" b="1" dirty="0" err="1"/>
              <a:t>Streamlit</a:t>
            </a:r>
            <a:r>
              <a:rPr lang="en-US" b="1" dirty="0"/>
              <a:t>-based visualization interface</a:t>
            </a:r>
            <a:r>
              <a:rPr lang="en-US" dirty="0"/>
              <a:t> for user interaction.</a:t>
            </a:r>
          </a:p>
          <a:p>
            <a:pPr>
              <a:buNone/>
            </a:pPr>
            <a:endParaRPr lang="en-US" dirty="0"/>
          </a:p>
          <a:p>
            <a:pPr>
              <a:buNone/>
            </a:pPr>
            <a:r>
              <a:rPr lang="en-US" dirty="0"/>
              <a:t>Stock market data is collected from the </a:t>
            </a:r>
            <a:r>
              <a:rPr lang="en-US" b="1" dirty="0"/>
              <a:t>Yahoo Finance API</a:t>
            </a:r>
            <a:r>
              <a:rPr lang="en-US" dirty="0"/>
              <a:t> and processed using </a:t>
            </a:r>
            <a:r>
              <a:rPr lang="en-US" b="1" dirty="0"/>
              <a:t>Apache Spark</a:t>
            </a:r>
            <a:r>
              <a:rPr lang="en-US" dirty="0"/>
              <a:t>, which performs analytics such as average price calculation, high–low analysis, and volume aggregation. The processed results are then exported and used by the dashboard for visualization and decision support.</a:t>
            </a:r>
          </a:p>
          <a:p>
            <a:pPr>
              <a:buNone/>
            </a:pPr>
            <a:endParaRPr lang="en-US" dirty="0"/>
          </a:p>
          <a:p>
            <a:pPr>
              <a:buNone/>
            </a:pPr>
            <a:r>
              <a:rPr lang="en-US" dirty="0"/>
              <a:t>The platform includes an </a:t>
            </a:r>
            <a:r>
              <a:rPr lang="en-US" b="1" dirty="0"/>
              <a:t>AI-driven prediction module</a:t>
            </a:r>
            <a:r>
              <a:rPr lang="en-US" dirty="0"/>
              <a:t> that forecasts future stock prices using machine learning techniques. Additionally, a </a:t>
            </a:r>
            <a:r>
              <a:rPr lang="en-US" b="1" dirty="0"/>
              <a:t>trading simulation module</a:t>
            </a:r>
            <a:r>
              <a:rPr lang="en-US" dirty="0"/>
              <a:t> allows users to perform buy and sell operations using a virtual wallet, track holdings, and analyze profit or loss.</a:t>
            </a:r>
          </a:p>
          <a:p>
            <a:pPr algn="l">
              <a:lnSpc>
                <a:spcPts val="2600"/>
              </a:lnSpc>
            </a:pPr>
            <a:endParaRPr lang="en-US" dirty="0"/>
          </a:p>
        </p:txBody>
      </p:sp>
    </p:spTree>
    <p:extLst>
      <p:ext uri="{BB962C8B-B14F-4D97-AF65-F5344CB8AC3E}">
        <p14:creationId xmlns:p14="http://schemas.microsoft.com/office/powerpoint/2010/main" val="3408330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7F80C-B9DB-29BB-E52D-C17D80EB2337}"/>
              </a:ext>
            </a:extLst>
          </p:cNvPr>
          <p:cNvSpPr>
            <a:spLocks noGrp="1"/>
          </p:cNvSpPr>
          <p:nvPr>
            <p:ph type="ctrTitle"/>
          </p:nvPr>
        </p:nvSpPr>
        <p:spPr>
          <a:xfrm>
            <a:off x="1600200" y="416378"/>
            <a:ext cx="8991600" cy="1239894"/>
          </a:xfrm>
        </p:spPr>
        <p:txBody>
          <a:bodyPr/>
          <a:lstStyle/>
          <a:p>
            <a:r>
              <a:rPr lang="en-IN" dirty="0"/>
              <a:t>TECHNOLOGIES USED</a:t>
            </a:r>
          </a:p>
        </p:txBody>
      </p:sp>
      <p:sp>
        <p:nvSpPr>
          <p:cNvPr id="3" name="ContentBody"/>
          <p:cNvSpPr txBox="1"/>
          <p:nvPr/>
        </p:nvSpPr>
        <p:spPr>
          <a:xfrm>
            <a:off x="665671" y="2009955"/>
            <a:ext cx="10877910" cy="3873260"/>
          </a:xfrm>
        </p:spPr>
        <p:txBody>
          <a:bodyPr>
            <a:normAutofit fontScale="85000" lnSpcReduction="20000"/>
          </a:bodyPr>
          <a:lstStyle/>
          <a:p>
            <a:pPr algn="l">
              <a:lnSpc>
                <a:spcPct val="150000"/>
              </a:lnSpc>
            </a:pPr>
            <a:r>
              <a:rPr lang="en-US" sz="2000" b="1" dirty="0"/>
              <a:t>Big Data Technologies:</a:t>
            </a:r>
          </a:p>
          <a:p>
            <a:pPr algn="l">
              <a:lnSpc>
                <a:spcPct val="150000"/>
              </a:lnSpc>
            </a:pPr>
            <a:r>
              <a:rPr lang="en-US" sz="2000" dirty="0"/>
              <a:t>•  Apache Spark (PySpark) — Distributed data processing engine</a:t>
            </a:r>
          </a:p>
          <a:p>
            <a:pPr algn="l">
              <a:lnSpc>
                <a:spcPct val="150000"/>
              </a:lnSpc>
            </a:pPr>
            <a:r>
              <a:rPr lang="en-US" sz="2000" dirty="0"/>
              <a:t>•  Spark SQL — Large-scale SQL queries on Spark DataFrames</a:t>
            </a:r>
          </a:p>
          <a:p>
            <a:pPr algn="l">
              <a:lnSpc>
                <a:spcPct val="150000"/>
              </a:lnSpc>
            </a:pPr>
            <a:r>
              <a:rPr lang="en-US" sz="2000" b="1" dirty="0"/>
              <a:t>Programming &amp; Frameworks:</a:t>
            </a:r>
          </a:p>
          <a:p>
            <a:pPr algn="l">
              <a:lnSpc>
                <a:spcPct val="150000"/>
              </a:lnSpc>
            </a:pPr>
            <a:r>
              <a:rPr lang="en-US" sz="2000" dirty="0"/>
              <a:t>•  Python 3.x, Streamlit (interactive dashboard), Plotly (candlestick charts)</a:t>
            </a:r>
          </a:p>
          <a:p>
            <a:pPr algn="l">
              <a:lnSpc>
                <a:spcPct val="150000"/>
              </a:lnSpc>
            </a:pPr>
            <a:r>
              <a:rPr lang="en-US" sz="2000" b="1" dirty="0"/>
              <a:t>Machine Learning:</a:t>
            </a:r>
          </a:p>
          <a:p>
            <a:pPr algn="l">
              <a:lnSpc>
                <a:spcPct val="150000"/>
              </a:lnSpc>
            </a:pPr>
            <a:r>
              <a:rPr lang="en-US" sz="2000" dirty="0"/>
              <a:t>•  Scikit-learn — Linear Regression for price prediction</a:t>
            </a:r>
          </a:p>
          <a:p>
            <a:pPr algn="l">
              <a:lnSpc>
                <a:spcPct val="150000"/>
              </a:lnSpc>
            </a:pPr>
            <a:r>
              <a:rPr lang="en-US" sz="2000" dirty="0"/>
              <a:t>•  NumPy — Numerical computation for feature engineering</a:t>
            </a:r>
          </a:p>
          <a:p>
            <a:pPr algn="l">
              <a:lnSpc>
                <a:spcPct val="150000"/>
              </a:lnSpc>
            </a:pPr>
            <a:r>
              <a:rPr lang="en-US" sz="2000" b="1" dirty="0"/>
              <a:t>Data Source &amp; IDE:</a:t>
            </a:r>
          </a:p>
          <a:p>
            <a:pPr algn="l">
              <a:lnSpc>
                <a:spcPct val="150000"/>
              </a:lnSpc>
            </a:pPr>
            <a:r>
              <a:rPr lang="en-US" sz="2000" dirty="0"/>
              <a:t>•  Yahoo Finance API (yfinance) — Live OHLCV stock data feed</a:t>
            </a:r>
          </a:p>
          <a:p>
            <a:pPr algn="l">
              <a:lnSpc>
                <a:spcPct val="150000"/>
              </a:lnSpc>
            </a:pPr>
            <a:r>
              <a:rPr lang="en-US" sz="2000" dirty="0"/>
              <a:t>•  Visual Studio Code (VS Code) — Development environment</a:t>
            </a:r>
          </a:p>
        </p:txBody>
      </p:sp>
    </p:spTree>
    <p:extLst>
      <p:ext uri="{BB962C8B-B14F-4D97-AF65-F5344CB8AC3E}">
        <p14:creationId xmlns:p14="http://schemas.microsoft.com/office/powerpoint/2010/main" val="2071131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A57C3-BD62-99B5-1BF5-C0D7AD3ED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6F453-CC2C-1956-3B26-6831BAD5C5B2}"/>
              </a:ext>
            </a:extLst>
          </p:cNvPr>
          <p:cNvSpPr>
            <a:spLocks noGrp="1"/>
          </p:cNvSpPr>
          <p:nvPr>
            <p:ph type="ctrTitle"/>
          </p:nvPr>
        </p:nvSpPr>
        <p:spPr>
          <a:xfrm>
            <a:off x="1600200" y="416378"/>
            <a:ext cx="8991600" cy="1239894"/>
          </a:xfrm>
        </p:spPr>
        <p:txBody>
          <a:bodyPr/>
          <a:lstStyle/>
          <a:p>
            <a:r>
              <a:rPr lang="en-US" dirty="0"/>
              <a:t>B</a:t>
            </a:r>
            <a:r>
              <a:rPr lang="en-IN" dirty="0"/>
              <a:t>lock diagram</a:t>
            </a:r>
          </a:p>
        </p:txBody>
      </p:sp>
      <p:sp>
        <p:nvSpPr>
          <p:cNvPr id="3" name="ContentBody">
            <a:extLst>
              <a:ext uri="{FF2B5EF4-FFF2-40B4-BE49-F238E27FC236}">
                <a16:creationId xmlns:a16="http://schemas.microsoft.com/office/drawing/2014/main" id="{FCF08419-D488-0B0B-A2EE-524C6A2D3DBA}"/>
              </a:ext>
            </a:extLst>
          </p:cNvPr>
          <p:cNvSpPr txBox="1"/>
          <p:nvPr/>
        </p:nvSpPr>
        <p:spPr>
          <a:xfrm>
            <a:off x="665671" y="2009955"/>
            <a:ext cx="10877910" cy="4787660"/>
          </a:xfrm>
        </p:spPr>
        <p:txBody>
          <a:bodyPr>
            <a:normAutofit/>
          </a:bodyPr>
          <a:lstStyle/>
          <a:p>
            <a:pPr algn="l">
              <a:lnSpc>
                <a:spcPts val="2600"/>
              </a:lnSpc>
            </a:pPr>
            <a:endParaRPr lang="en-US" sz="1400" dirty="0"/>
          </a:p>
        </p:txBody>
      </p:sp>
      <p:pic>
        <p:nvPicPr>
          <p:cNvPr id="5" name="Picture 4">
            <a:extLst>
              <a:ext uri="{FF2B5EF4-FFF2-40B4-BE49-F238E27FC236}">
                <a16:creationId xmlns:a16="http://schemas.microsoft.com/office/drawing/2014/main" id="{36649471-2A8A-7D8C-BBAC-12A69146D034}"/>
              </a:ext>
            </a:extLst>
          </p:cNvPr>
          <p:cNvPicPr>
            <a:picLocks noChangeAspect="1"/>
          </p:cNvPicPr>
          <p:nvPr/>
        </p:nvPicPr>
        <p:blipFill>
          <a:blip r:embed="rId2"/>
          <a:stretch>
            <a:fillRect/>
          </a:stretch>
        </p:blipFill>
        <p:spPr>
          <a:xfrm>
            <a:off x="1784230" y="2009955"/>
            <a:ext cx="8623539" cy="4311771"/>
          </a:xfrm>
          <a:prstGeom prst="rect">
            <a:avLst/>
          </a:prstGeom>
        </p:spPr>
      </p:pic>
    </p:spTree>
    <p:extLst>
      <p:ext uri="{BB962C8B-B14F-4D97-AF65-F5344CB8AC3E}">
        <p14:creationId xmlns:p14="http://schemas.microsoft.com/office/powerpoint/2010/main" val="2523848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5161B-F867-2E5A-880D-35118E6E95E7}"/>
              </a:ext>
            </a:extLst>
          </p:cNvPr>
          <p:cNvSpPr>
            <a:spLocks noGrp="1"/>
          </p:cNvSpPr>
          <p:nvPr>
            <p:ph type="ctrTitle"/>
          </p:nvPr>
        </p:nvSpPr>
        <p:spPr>
          <a:xfrm>
            <a:off x="1600200" y="405441"/>
            <a:ext cx="8991600" cy="1239893"/>
          </a:xfrm>
        </p:spPr>
        <p:txBody>
          <a:bodyPr/>
          <a:lstStyle/>
          <a:p>
            <a:r>
              <a:rPr lang="en-IN" dirty="0"/>
              <a:t>SYSTEM ARCHITECTURE</a:t>
            </a:r>
          </a:p>
        </p:txBody>
      </p:sp>
      <p:sp>
        <p:nvSpPr>
          <p:cNvPr id="3" name="ContentBody"/>
          <p:cNvSpPr txBox="1"/>
          <p:nvPr/>
        </p:nvSpPr>
        <p:spPr>
          <a:xfrm>
            <a:off x="1600200" y="2329314"/>
            <a:ext cx="8991600" cy="3715351"/>
          </a:xfrm>
        </p:spPr>
        <p:txBody>
          <a:bodyPr>
            <a:normAutofit/>
          </a:bodyPr>
          <a:lstStyle/>
          <a:p>
            <a:pPr algn="l">
              <a:lnSpc>
                <a:spcPts val="2600"/>
              </a:lnSpc>
            </a:pPr>
            <a:endParaRPr lang="en-US" sz="1500" b="1" dirty="0"/>
          </a:p>
        </p:txBody>
      </p:sp>
      <p:pic>
        <p:nvPicPr>
          <p:cNvPr id="6" name="Picture 5">
            <a:extLst>
              <a:ext uri="{FF2B5EF4-FFF2-40B4-BE49-F238E27FC236}">
                <a16:creationId xmlns:a16="http://schemas.microsoft.com/office/drawing/2014/main" id="{D0D1B049-F81F-4C66-8DB4-01F2520AC9F1}"/>
              </a:ext>
            </a:extLst>
          </p:cNvPr>
          <p:cNvPicPr>
            <a:picLocks noChangeAspect="1"/>
          </p:cNvPicPr>
          <p:nvPr/>
        </p:nvPicPr>
        <p:blipFill>
          <a:blip r:embed="rId2"/>
          <a:stretch>
            <a:fillRect/>
          </a:stretch>
        </p:blipFill>
        <p:spPr>
          <a:xfrm>
            <a:off x="2562231" y="1817195"/>
            <a:ext cx="7067538" cy="4739587"/>
          </a:xfrm>
          <a:prstGeom prst="rect">
            <a:avLst/>
          </a:prstGeom>
        </p:spPr>
      </p:pic>
    </p:spTree>
    <p:extLst>
      <p:ext uri="{BB962C8B-B14F-4D97-AF65-F5344CB8AC3E}">
        <p14:creationId xmlns:p14="http://schemas.microsoft.com/office/powerpoint/2010/main" val="1618906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C7674-5984-2F59-F6CD-2D0A70C837A6}"/>
              </a:ext>
            </a:extLst>
          </p:cNvPr>
          <p:cNvSpPr>
            <a:spLocks noGrp="1"/>
          </p:cNvSpPr>
          <p:nvPr>
            <p:ph type="ctrTitle"/>
          </p:nvPr>
        </p:nvSpPr>
        <p:spPr>
          <a:xfrm>
            <a:off x="1600200" y="345058"/>
            <a:ext cx="8991600" cy="1052422"/>
          </a:xfrm>
        </p:spPr>
        <p:txBody>
          <a:bodyPr>
            <a:normAutofit/>
          </a:bodyPr>
          <a:lstStyle/>
          <a:p>
            <a:r>
              <a:rPr lang="en-US" dirty="0"/>
              <a:t>U</a:t>
            </a:r>
            <a:r>
              <a:rPr lang="en-IN" dirty="0"/>
              <a:t>ML DIAGRAM</a:t>
            </a:r>
          </a:p>
        </p:txBody>
      </p:sp>
      <p:sp>
        <p:nvSpPr>
          <p:cNvPr id="3" name="ContentBody"/>
          <p:cNvSpPr txBox="1"/>
          <p:nvPr/>
        </p:nvSpPr>
        <p:spPr>
          <a:xfrm>
            <a:off x="1328286" y="1733909"/>
            <a:ext cx="10241279" cy="3858529"/>
          </a:xfrm>
        </p:spPr>
        <p:txBody>
          <a:bodyPr>
            <a:normAutofit/>
          </a:bodyPr>
          <a:lstStyle/>
          <a:p>
            <a:pPr algn="l">
              <a:lnSpc>
                <a:spcPts val="2600"/>
              </a:lnSpc>
            </a:pPr>
            <a:endParaRPr lang="en-US" sz="1400" dirty="0"/>
          </a:p>
        </p:txBody>
      </p:sp>
      <p:pic>
        <p:nvPicPr>
          <p:cNvPr id="5" name="Picture 4">
            <a:extLst>
              <a:ext uri="{FF2B5EF4-FFF2-40B4-BE49-F238E27FC236}">
                <a16:creationId xmlns:a16="http://schemas.microsoft.com/office/drawing/2014/main" id="{F62E6B8F-D75A-214A-E39F-B65C0FE891EB}"/>
              </a:ext>
            </a:extLst>
          </p:cNvPr>
          <p:cNvPicPr>
            <a:picLocks noChangeAspect="1"/>
          </p:cNvPicPr>
          <p:nvPr/>
        </p:nvPicPr>
        <p:blipFill>
          <a:blip r:embed="rId2"/>
          <a:stretch>
            <a:fillRect/>
          </a:stretch>
        </p:blipFill>
        <p:spPr>
          <a:xfrm>
            <a:off x="3306116" y="1838845"/>
            <a:ext cx="5579767" cy="4090022"/>
          </a:xfrm>
          <a:prstGeom prst="rect">
            <a:avLst/>
          </a:prstGeom>
        </p:spPr>
      </p:pic>
    </p:spTree>
    <p:extLst>
      <p:ext uri="{BB962C8B-B14F-4D97-AF65-F5344CB8AC3E}">
        <p14:creationId xmlns:p14="http://schemas.microsoft.com/office/powerpoint/2010/main" val="2994999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B3C21-5DA3-4B58-2252-5988EF323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595559-7DA7-79A1-141E-1B2AE1AA06A6}"/>
              </a:ext>
            </a:extLst>
          </p:cNvPr>
          <p:cNvSpPr>
            <a:spLocks noGrp="1"/>
          </p:cNvSpPr>
          <p:nvPr>
            <p:ph type="ctrTitle"/>
          </p:nvPr>
        </p:nvSpPr>
        <p:spPr>
          <a:xfrm>
            <a:off x="1600200" y="345058"/>
            <a:ext cx="8991600" cy="1052422"/>
          </a:xfrm>
        </p:spPr>
        <p:txBody>
          <a:bodyPr>
            <a:normAutofit/>
          </a:bodyPr>
          <a:lstStyle/>
          <a:p>
            <a:r>
              <a:rPr lang="en-US" dirty="0"/>
              <a:t>Activity diagram</a:t>
            </a:r>
            <a:endParaRPr lang="en-IN" dirty="0"/>
          </a:p>
        </p:txBody>
      </p:sp>
      <p:sp>
        <p:nvSpPr>
          <p:cNvPr id="3" name="ContentBody">
            <a:extLst>
              <a:ext uri="{FF2B5EF4-FFF2-40B4-BE49-F238E27FC236}">
                <a16:creationId xmlns:a16="http://schemas.microsoft.com/office/drawing/2014/main" id="{54FF9679-021A-AB89-B6F1-87B9F24B6921}"/>
              </a:ext>
            </a:extLst>
          </p:cNvPr>
          <p:cNvSpPr txBox="1"/>
          <p:nvPr/>
        </p:nvSpPr>
        <p:spPr>
          <a:xfrm>
            <a:off x="1328286" y="1733909"/>
            <a:ext cx="10241279" cy="3858529"/>
          </a:xfrm>
        </p:spPr>
        <p:txBody>
          <a:bodyPr>
            <a:normAutofit/>
          </a:bodyPr>
          <a:lstStyle/>
          <a:p>
            <a:pPr algn="l">
              <a:lnSpc>
                <a:spcPts val="2600"/>
              </a:lnSpc>
            </a:pPr>
            <a:endParaRPr lang="en-US" sz="1400" dirty="0"/>
          </a:p>
        </p:txBody>
      </p:sp>
      <p:pic>
        <p:nvPicPr>
          <p:cNvPr id="6" name="Picture 5">
            <a:extLst>
              <a:ext uri="{FF2B5EF4-FFF2-40B4-BE49-F238E27FC236}">
                <a16:creationId xmlns:a16="http://schemas.microsoft.com/office/drawing/2014/main" id="{C432C6D6-FE90-F7DC-F700-90B02A8E4555}"/>
              </a:ext>
            </a:extLst>
          </p:cNvPr>
          <p:cNvPicPr>
            <a:picLocks noChangeAspect="1"/>
          </p:cNvPicPr>
          <p:nvPr/>
        </p:nvPicPr>
        <p:blipFill>
          <a:blip r:embed="rId2"/>
          <a:stretch>
            <a:fillRect/>
          </a:stretch>
        </p:blipFill>
        <p:spPr>
          <a:xfrm>
            <a:off x="3552978" y="1733909"/>
            <a:ext cx="5086044" cy="4606503"/>
          </a:xfrm>
          <a:prstGeom prst="rect">
            <a:avLst/>
          </a:prstGeom>
        </p:spPr>
      </p:pic>
    </p:spTree>
    <p:extLst>
      <p:ext uri="{BB962C8B-B14F-4D97-AF65-F5344CB8AC3E}">
        <p14:creationId xmlns:p14="http://schemas.microsoft.com/office/powerpoint/2010/main" val="3299965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2822B-15E3-9F97-2A2A-CA546EC6E0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784629-2F3D-8147-DE39-66A4A8C54878}"/>
              </a:ext>
            </a:extLst>
          </p:cNvPr>
          <p:cNvSpPr>
            <a:spLocks noGrp="1"/>
          </p:cNvSpPr>
          <p:nvPr>
            <p:ph type="ctrTitle"/>
          </p:nvPr>
        </p:nvSpPr>
        <p:spPr>
          <a:xfrm>
            <a:off x="1600200" y="345058"/>
            <a:ext cx="8991600" cy="1052422"/>
          </a:xfrm>
        </p:spPr>
        <p:txBody>
          <a:bodyPr>
            <a:normAutofit/>
          </a:bodyPr>
          <a:lstStyle/>
          <a:p>
            <a:r>
              <a:rPr lang="en-US" dirty="0"/>
              <a:t>Module design</a:t>
            </a:r>
            <a:endParaRPr lang="en-IN" dirty="0"/>
          </a:p>
        </p:txBody>
      </p:sp>
      <p:sp>
        <p:nvSpPr>
          <p:cNvPr id="3" name="ContentBody">
            <a:extLst>
              <a:ext uri="{FF2B5EF4-FFF2-40B4-BE49-F238E27FC236}">
                <a16:creationId xmlns:a16="http://schemas.microsoft.com/office/drawing/2014/main" id="{F8FD379D-8916-185D-D103-D0C06FF7AE8B}"/>
              </a:ext>
            </a:extLst>
          </p:cNvPr>
          <p:cNvSpPr txBox="1"/>
          <p:nvPr/>
        </p:nvSpPr>
        <p:spPr>
          <a:xfrm>
            <a:off x="1328286" y="1733909"/>
            <a:ext cx="10241279" cy="3858529"/>
          </a:xfrm>
        </p:spPr>
        <p:txBody>
          <a:bodyPr>
            <a:normAutofit/>
          </a:bodyPr>
          <a:lstStyle/>
          <a:p>
            <a:pPr algn="l">
              <a:lnSpc>
                <a:spcPts val="2600"/>
              </a:lnSpc>
            </a:pPr>
            <a:endParaRPr lang="en-US" sz="1400" dirty="0"/>
          </a:p>
        </p:txBody>
      </p:sp>
      <p:pic>
        <p:nvPicPr>
          <p:cNvPr id="5" name="Picture 4">
            <a:extLst>
              <a:ext uri="{FF2B5EF4-FFF2-40B4-BE49-F238E27FC236}">
                <a16:creationId xmlns:a16="http://schemas.microsoft.com/office/drawing/2014/main" id="{950EC46F-6003-A877-FC2A-E3467E2F79E4}"/>
              </a:ext>
            </a:extLst>
          </p:cNvPr>
          <p:cNvPicPr>
            <a:picLocks noChangeAspect="1"/>
          </p:cNvPicPr>
          <p:nvPr/>
        </p:nvPicPr>
        <p:blipFill>
          <a:blip r:embed="rId2"/>
          <a:stretch>
            <a:fillRect/>
          </a:stretch>
        </p:blipFill>
        <p:spPr>
          <a:xfrm>
            <a:off x="2140788" y="1733909"/>
            <a:ext cx="7910424" cy="4520242"/>
          </a:xfrm>
          <a:prstGeom prst="rect">
            <a:avLst/>
          </a:prstGeom>
        </p:spPr>
      </p:pic>
    </p:spTree>
    <p:extLst>
      <p:ext uri="{BB962C8B-B14F-4D97-AF65-F5344CB8AC3E}">
        <p14:creationId xmlns:p14="http://schemas.microsoft.com/office/powerpoint/2010/main" val="1420382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20413" y="322839"/>
            <a:ext cx="7551173" cy="974116"/>
          </a:xfrm>
        </p:spPr>
        <p:txBody>
          <a:bodyPr/>
          <a:lstStyle/>
          <a:p>
            <a:r>
              <a:rPr lang="en-US" dirty="0"/>
              <a:t>Expected outcomes</a:t>
            </a:r>
          </a:p>
        </p:txBody>
      </p:sp>
      <p:sp>
        <p:nvSpPr>
          <p:cNvPr id="501" name="ContentBox"/>
          <p:cNvSpPr txBox="1"/>
          <p:nvPr/>
        </p:nvSpPr>
        <p:spPr>
          <a:xfrm>
            <a:off x="759124" y="1906438"/>
            <a:ext cx="11277600" cy="5334000"/>
          </a:xfrm>
          <a:prstGeom prst="rect">
            <a:avLst/>
          </a:prstGeom>
          <a:noFill/>
        </p:spPr>
        <p:txBody>
          <a:bodyPr wrap="square" rtlCol="0">
            <a:normAutofit/>
          </a:bodyPr>
          <a:lstStyle/>
          <a:p>
            <a:pPr>
              <a:lnSpc>
                <a:spcPct val="150000"/>
              </a:lnSpc>
              <a:buNone/>
            </a:pPr>
            <a:r>
              <a:rPr lang="en-US" sz="2000" dirty="0"/>
              <a:t>The </a:t>
            </a:r>
            <a:r>
              <a:rPr lang="en-US" sz="2000" dirty="0" err="1"/>
              <a:t>SmartStocks</a:t>
            </a:r>
            <a:r>
              <a:rPr lang="en-US" sz="2000" dirty="0"/>
              <a:t> AI system is expected to:</a:t>
            </a:r>
          </a:p>
          <a:p>
            <a:pPr>
              <a:lnSpc>
                <a:spcPct val="150000"/>
              </a:lnSpc>
              <a:buFont typeface="Arial" panose="020B0604020202020204" pitchFamily="34" charset="0"/>
              <a:buChar char="•"/>
            </a:pPr>
            <a:r>
              <a:rPr lang="en-US" sz="2000" dirty="0"/>
              <a:t>Demonstrate </a:t>
            </a:r>
            <a:r>
              <a:rPr lang="en-US" sz="2000" b="1" dirty="0"/>
              <a:t>Big Data analytics using Apache Spark</a:t>
            </a:r>
            <a:endParaRPr lang="en-US" sz="2000" dirty="0"/>
          </a:p>
          <a:p>
            <a:pPr>
              <a:lnSpc>
                <a:spcPct val="150000"/>
              </a:lnSpc>
              <a:buFont typeface="Arial" panose="020B0604020202020204" pitchFamily="34" charset="0"/>
              <a:buChar char="•"/>
            </a:pPr>
            <a:r>
              <a:rPr lang="en-US" sz="2000" dirty="0"/>
              <a:t>Provide an </a:t>
            </a:r>
            <a:r>
              <a:rPr lang="en-US" sz="2000" b="1" dirty="0"/>
              <a:t>interactive stock market dashboard</a:t>
            </a:r>
            <a:endParaRPr lang="en-US" sz="2000" dirty="0"/>
          </a:p>
          <a:p>
            <a:pPr>
              <a:lnSpc>
                <a:spcPct val="150000"/>
              </a:lnSpc>
              <a:buFont typeface="Arial" panose="020B0604020202020204" pitchFamily="34" charset="0"/>
              <a:buChar char="•"/>
            </a:pPr>
            <a:r>
              <a:rPr lang="en-US" sz="2000" dirty="0"/>
              <a:t>Generate </a:t>
            </a:r>
            <a:r>
              <a:rPr lang="en-US" sz="2000" b="1" dirty="0"/>
              <a:t>AI-based price predictions</a:t>
            </a:r>
            <a:endParaRPr lang="en-US" sz="2000" dirty="0"/>
          </a:p>
          <a:p>
            <a:pPr>
              <a:lnSpc>
                <a:spcPct val="150000"/>
              </a:lnSpc>
              <a:buFont typeface="Arial" panose="020B0604020202020204" pitchFamily="34" charset="0"/>
              <a:buChar char="•"/>
            </a:pPr>
            <a:r>
              <a:rPr lang="en-US" sz="2000" dirty="0"/>
              <a:t>Simulate a </a:t>
            </a:r>
            <a:r>
              <a:rPr lang="en-US" sz="2000" b="1" dirty="0"/>
              <a:t>trading environment with wallet and holdings</a:t>
            </a:r>
            <a:endParaRPr lang="en-US" sz="2000" dirty="0"/>
          </a:p>
          <a:p>
            <a:pPr>
              <a:lnSpc>
                <a:spcPct val="150000"/>
              </a:lnSpc>
              <a:buFont typeface="Arial" panose="020B0604020202020204" pitchFamily="34" charset="0"/>
              <a:buChar char="•"/>
            </a:pPr>
            <a:r>
              <a:rPr lang="en-US" sz="2000" dirty="0"/>
              <a:t>Enable </a:t>
            </a:r>
            <a:r>
              <a:rPr lang="en-US" sz="2000" b="1" dirty="0"/>
              <a:t>visual analysis through candlestick charts</a:t>
            </a:r>
            <a:endParaRPr lang="en-US" sz="2000" dirty="0"/>
          </a:p>
          <a:p>
            <a:pPr>
              <a:lnSpc>
                <a:spcPct val="150000"/>
              </a:lnSpc>
              <a:buFont typeface="Arial" panose="020B0604020202020204" pitchFamily="34" charset="0"/>
              <a:buChar char="•"/>
            </a:pPr>
            <a:r>
              <a:rPr lang="en-US" sz="2000" dirty="0"/>
              <a:t>Help users understand </a:t>
            </a:r>
            <a:r>
              <a:rPr lang="en-US" sz="2000" b="1" dirty="0"/>
              <a:t>data-driven trading strategies</a:t>
            </a:r>
            <a:endParaRPr lang="en-US" sz="2000" dirty="0"/>
          </a:p>
          <a:p>
            <a:pPr algn="l">
              <a:lnSpc>
                <a:spcPts val="2600"/>
              </a:lnSpc>
            </a:pP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4F15B-8E34-2223-AAD9-F63185A865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FC687-838C-F9AE-24AD-EB2B9467F22A}"/>
              </a:ext>
            </a:extLst>
          </p:cNvPr>
          <p:cNvSpPr>
            <a:spLocks noGrp="1"/>
          </p:cNvSpPr>
          <p:nvPr>
            <p:ph type="ctrTitle"/>
          </p:nvPr>
        </p:nvSpPr>
        <p:spPr>
          <a:xfrm>
            <a:off x="2320413" y="2651971"/>
            <a:ext cx="7551173" cy="974116"/>
          </a:xfrm>
        </p:spPr>
        <p:txBody>
          <a:bodyPr/>
          <a:lstStyle/>
          <a:p>
            <a:r>
              <a:rPr lang="en-US" dirty="0"/>
              <a:t>Thank you</a:t>
            </a:r>
          </a:p>
        </p:txBody>
      </p:sp>
    </p:spTree>
    <p:extLst>
      <p:ext uri="{BB962C8B-B14F-4D97-AF65-F5344CB8AC3E}">
        <p14:creationId xmlns:p14="http://schemas.microsoft.com/office/powerpoint/2010/main" val="3665236333"/>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1002</TotalTime>
  <Words>1061</Words>
  <Application>Microsoft Office PowerPoint</Application>
  <PresentationFormat>Widescreen</PresentationFormat>
  <Paragraphs>128</Paragraphs>
  <Slides>17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Gill Sans MT</vt:lpstr>
      <vt:lpstr>Times New Roman</vt:lpstr>
      <vt:lpstr>Parcel</vt:lpstr>
      <vt:lpstr>Smart Stocks AI real time Stock Market Analysis</vt:lpstr>
      <vt:lpstr>Table of Contents</vt:lpstr>
      <vt:lpstr>ABSTRACT</vt:lpstr>
      <vt:lpstr>INTRODUCTION</vt:lpstr>
      <vt:lpstr>LITERATURE SURVEY</vt:lpstr>
      <vt:lpstr>PROBLEM STATEMENT</vt:lpstr>
      <vt:lpstr>EXISTING SYSTEM</vt:lpstr>
      <vt:lpstr>OBJECTIVES</vt:lpstr>
      <vt:lpstr>PROPOSED solution</vt:lpstr>
      <vt:lpstr>TECHNOLOGIES USED</vt:lpstr>
      <vt:lpstr>Block diagram</vt:lpstr>
      <vt:lpstr>SYSTEM ARCHITECTURE</vt:lpstr>
      <vt:lpstr>UML DIAGRAM</vt:lpstr>
      <vt:lpstr>Activity diagram</vt:lpstr>
      <vt:lpstr>Module design</vt:lpstr>
      <vt:lpstr>Expected outcomes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Preserving performance of ml models using MLOps</dc:title>
  <dc:creator>Varshika Dasari</dc:creator>
  <cp:lastModifiedBy>Sai Yashwant</cp:lastModifiedBy>
  <cp:revision>25</cp:revision>
  <dcterms:created xsi:type="dcterms:W3CDTF">2022-09-15T19:17:00Z</dcterms:created>
  <dcterms:modified xsi:type="dcterms:W3CDTF">2026-03-06T08:37:21Z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3936C35BB73A4955AF09C77BF7191492</vt:lpwstr>
  </property>
  <property fmtid="{D5CDD505-2E9C-101B-9397-08002B2CF9AE}" pid="3" name="KSOProductBuildVer">
    <vt:lpwstr>1033-11.2.0.11306</vt:lpwstr>
  </property>
</Properties>
</file>