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71" r:id="rId3"/>
    <p:sldId id="259" r:id="rId4"/>
    <p:sldId id="286" r:id="rId5"/>
    <p:sldId id="287" r:id="rId6"/>
    <p:sldId id="300" r:id="rId7"/>
    <p:sldId id="301" r:id="rId8"/>
    <p:sldId id="263" r:id="rId9"/>
    <p:sldId id="290" r:id="rId10"/>
    <p:sldId id="288" r:id="rId11"/>
    <p:sldId id="302" r:id="rId12"/>
    <p:sldId id="289" r:id="rId13"/>
    <p:sldId id="291" r:id="rId14"/>
    <p:sldId id="303" r:id="rId15"/>
    <p:sldId id="304" r:id="rId16"/>
    <p:sldId id="267" r:id="rId17"/>
    <p:sldId id="30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oever" initials="w" lastIdx="1" clrIdx="0">
    <p:extLst>
      <p:ext uri="{19B8F6BF-5375-455C-9EA6-DF929625EA0E}">
        <p15:presenceInfo xmlns:p15="http://schemas.microsoft.com/office/powerpoint/2012/main" userId="whoev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78" autoAdjust="0"/>
    <p:restoredTop sz="94660"/>
  </p:normalViewPr>
  <p:slideViewPr>
    <p:cSldViewPr snapToGrid="0">
      <p:cViewPr varScale="1">
        <p:scale>
          <a:sx n="111" d="100"/>
          <a:sy n="111" d="100"/>
        </p:scale>
        <p:origin x="546" y="96"/>
      </p:cViewPr>
      <p:guideLst/>
    </p:cSldViewPr>
  </p:slideViewPr>
  <p:notesTextViewPr>
    <p:cViewPr>
      <p:scale>
        <a:sx n="1" d="1"/>
        <a:sy n="1" d="1"/>
      </p:scale>
      <p:origin x="0" y="0"/>
    </p:cViewPr>
  </p:notesTextViewPr>
  <p:notesViewPr>
    <p:cSldViewPr snapToGrid="0">
      <p:cViewPr varScale="1">
        <p:scale>
          <a:sx n="57" d="100"/>
          <a:sy n="57" d="100"/>
        </p:scale>
        <p:origin x="256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6490A-2B5A-4A78-88B4-B9069912938D}"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C21B1-72C9-48EC-AE48-8F81FCB3CC8F}" type="slidenum">
              <a:rPr lang="en-IN" smtClean="0"/>
              <a:t>‹#›</a:t>
            </a:fld>
            <a:endParaRPr lang="en-IN"/>
          </a:p>
        </p:txBody>
      </p:sp>
    </p:spTree>
    <p:extLst>
      <p:ext uri="{BB962C8B-B14F-4D97-AF65-F5344CB8AC3E}">
        <p14:creationId xmlns:p14="http://schemas.microsoft.com/office/powerpoint/2010/main" val="1330992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2DC21B1-72C9-48EC-AE48-8F81FCB3CC8F}" type="slidenum">
              <a:rPr lang="en-IN" smtClean="0"/>
              <a:t>16</a:t>
            </a:fld>
            <a:endParaRPr lang="en-IN"/>
          </a:p>
        </p:txBody>
      </p:sp>
    </p:spTree>
    <p:extLst>
      <p:ext uri="{BB962C8B-B14F-4D97-AF65-F5344CB8AC3E}">
        <p14:creationId xmlns:p14="http://schemas.microsoft.com/office/powerpoint/2010/main" val="2693323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9B998-DFED-73A6-654A-892B4B366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B1AF0-2379-6EAD-84DF-FF9EBE63A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789F1-8D49-F571-A81A-C5F4327E678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30DD046-8B00-DD56-23E2-E72F3D9CEA4A}"/>
              </a:ext>
            </a:extLst>
          </p:cNvPr>
          <p:cNvSpPr>
            <a:spLocks noGrp="1"/>
          </p:cNvSpPr>
          <p:nvPr>
            <p:ph type="sldNum" sz="quarter" idx="5"/>
          </p:nvPr>
        </p:nvSpPr>
        <p:spPr/>
        <p:txBody>
          <a:bodyPr/>
          <a:lstStyle/>
          <a:p>
            <a:fld id="{C2DC21B1-72C9-48EC-AE48-8F81FCB3CC8F}" type="slidenum">
              <a:rPr lang="en-IN" smtClean="0"/>
              <a:t>17</a:t>
            </a:fld>
            <a:endParaRPr lang="en-IN"/>
          </a:p>
        </p:txBody>
      </p:sp>
    </p:spTree>
    <p:extLst>
      <p:ext uri="{BB962C8B-B14F-4D97-AF65-F5344CB8AC3E}">
        <p14:creationId xmlns:p14="http://schemas.microsoft.com/office/powerpoint/2010/main" val="31360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3/14/2026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3/14/2026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3/14/2026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3/14/2026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search/?query=stock+price+prediction+machine+learning" TargetMode="External"/><Relationship Id="rId2" Type="http://schemas.openxmlformats.org/officeDocument/2006/relationships/hyperlink" Target="https://ieeexplore.ieee.org/" TargetMode="External"/><Relationship Id="rId1" Type="http://schemas.openxmlformats.org/officeDocument/2006/relationships/slideLayout" Target="../slideLayouts/slideLayout1.xml"/><Relationship Id="rId5" Type="http://schemas.openxmlformats.org/officeDocument/2006/relationships/hyperlink" Target="https://www.sciencedirect.com/" TargetMode="External"/><Relationship Id="rId4" Type="http://schemas.openxmlformats.org/officeDocument/2006/relationships/hyperlink" Target="https://spark.apache.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616103"/>
            <a:ext cx="8991600" cy="1645920"/>
          </a:xfrm>
        </p:spPr>
        <p:txBody>
          <a:bodyPr>
            <a:normAutofit fontScale="90000"/>
          </a:bodyPr>
          <a:lstStyle/>
          <a:p>
            <a:pPr>
              <a:lnSpc>
                <a:spcPct val="100000"/>
              </a:lnSpc>
            </a:pPr>
            <a:r>
              <a:rPr lang="en-US" b="1" dirty="0"/>
              <a:t>Smart Stocks AI</a:t>
            </a:r>
            <a:br>
              <a:rPr lang="en-US" dirty="0"/>
            </a:br>
            <a:r>
              <a:rPr lang="en-US" dirty="0"/>
              <a:t>real time Stock Market Analysis</a:t>
            </a:r>
            <a:endParaRPr lang="en-IN" dirty="0"/>
          </a:p>
        </p:txBody>
      </p:sp>
      <p:sp>
        <p:nvSpPr>
          <p:cNvPr id="3" name="Subtitle 2"/>
          <p:cNvSpPr>
            <a:spLocks noGrp="1"/>
          </p:cNvSpPr>
          <p:nvPr>
            <p:ph type="subTitle" idx="1"/>
          </p:nvPr>
        </p:nvSpPr>
        <p:spPr>
          <a:xfrm>
            <a:off x="3498303" y="2468336"/>
            <a:ext cx="5195394" cy="3958344"/>
          </a:xfrm>
        </p:spPr>
        <p:txBody>
          <a:bodyPr>
            <a:normAutofit fontScale="92500" lnSpcReduction="10000"/>
          </a:bodyPr>
          <a:lstStyle/>
          <a:p>
            <a:r>
              <a:rPr lang="en-US" dirty="0">
                <a:solidFill>
                  <a:schemeClr val="tx1">
                    <a:lumMod val="95000"/>
                  </a:schemeClr>
                </a:solidFill>
              </a:rPr>
              <a:t>Department of Computer Science &amp; Engineering</a:t>
            </a:r>
          </a:p>
          <a:p>
            <a:r>
              <a:rPr lang="en-US" dirty="0" err="1">
                <a:solidFill>
                  <a:schemeClr val="tx1">
                    <a:lumMod val="95000"/>
                  </a:schemeClr>
                </a:solidFill>
              </a:rPr>
              <a:t>B.Tech</a:t>
            </a:r>
            <a:r>
              <a:rPr lang="en-US" dirty="0">
                <a:solidFill>
                  <a:schemeClr val="tx1">
                    <a:lumMod val="95000"/>
                  </a:schemeClr>
                </a:solidFill>
              </a:rPr>
              <a:t> |  Academic Year 2025–26</a:t>
            </a:r>
          </a:p>
          <a:p>
            <a:endParaRPr lang="en-US" b="1" u="sng" dirty="0">
              <a:solidFill>
                <a:schemeClr val="tx1">
                  <a:lumMod val="95000"/>
                </a:schemeClr>
              </a:solidFill>
            </a:endParaRPr>
          </a:p>
          <a:p>
            <a:r>
              <a:rPr lang="en-US" b="1" u="sng" dirty="0">
                <a:solidFill>
                  <a:schemeClr val="tx1">
                    <a:lumMod val="95000"/>
                  </a:schemeClr>
                </a:solidFill>
              </a:rPr>
              <a:t>Presented by:</a:t>
            </a:r>
          </a:p>
          <a:p>
            <a:r>
              <a:rPr lang="en-US" dirty="0">
                <a:solidFill>
                  <a:schemeClr val="tx1">
                    <a:lumMod val="95000"/>
                  </a:schemeClr>
                </a:solidFill>
              </a:rPr>
              <a:t>Sameer Farhad  |  2320030239  |  CSE</a:t>
            </a:r>
          </a:p>
          <a:p>
            <a:r>
              <a:rPr lang="en-US" dirty="0">
                <a:solidFill>
                  <a:schemeClr val="tx1">
                    <a:lumMod val="95000"/>
                  </a:schemeClr>
                </a:solidFill>
              </a:rPr>
              <a:t>Sai Harshit Dasari  |  2320030249  |  CSE</a:t>
            </a:r>
          </a:p>
          <a:p>
            <a:r>
              <a:rPr lang="en-US" dirty="0">
                <a:solidFill>
                  <a:schemeClr val="tx1">
                    <a:lumMod val="95000"/>
                  </a:schemeClr>
                </a:solidFill>
              </a:rPr>
              <a:t>Balivada Sai Yashwant  |  2310030018  |  CSE</a:t>
            </a:r>
          </a:p>
          <a:p>
            <a:endParaRPr lang="en-US" b="1" u="sng" dirty="0">
              <a:solidFill>
                <a:schemeClr val="tx1">
                  <a:lumMod val="95000"/>
                </a:schemeClr>
              </a:solidFill>
            </a:endParaRPr>
          </a:p>
          <a:p>
            <a:r>
              <a:rPr lang="en-US" b="1" u="sng" dirty="0">
                <a:solidFill>
                  <a:schemeClr val="tx1">
                    <a:lumMod val="95000"/>
                  </a:schemeClr>
                </a:solidFill>
              </a:rPr>
              <a:t>Guided by:</a:t>
            </a:r>
          </a:p>
          <a:p>
            <a:r>
              <a:rPr lang="en-US" dirty="0">
                <a:solidFill>
                  <a:schemeClr val="tx1">
                    <a:lumMod val="95000"/>
                  </a:schemeClr>
                </a:solidFill>
              </a:rPr>
              <a:t>Dr. N Sirisha,  Associate Professor</a:t>
            </a:r>
          </a:p>
        </p:txBody>
      </p:sp>
      <p:sp>
        <p:nvSpPr>
          <p:cNvPr id="4" name="Text Box 3"/>
          <p:cNvSpPr txBox="1"/>
          <p:nvPr/>
        </p:nvSpPr>
        <p:spPr>
          <a:xfrm>
            <a:off x="7329805" y="3035300"/>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3948" y="550153"/>
            <a:ext cx="9724103" cy="912163"/>
          </a:xfrm>
        </p:spPr>
        <p:txBody>
          <a:bodyPr>
            <a:normAutofit/>
          </a:bodyPr>
          <a:lstStyle/>
          <a:p>
            <a:r>
              <a:rPr lang="en-US" dirty="0"/>
              <a:t>Table of Contents</a:t>
            </a:r>
            <a:endParaRPr lang="en-IN" dirty="0"/>
          </a:p>
        </p:txBody>
      </p:sp>
      <p:sp>
        <p:nvSpPr>
          <p:cNvPr id="3" name="Subtitle 2"/>
          <p:cNvSpPr>
            <a:spLocks noGrp="1"/>
          </p:cNvSpPr>
          <p:nvPr>
            <p:ph type="subTitle" idx="1"/>
          </p:nvPr>
        </p:nvSpPr>
        <p:spPr>
          <a:xfrm>
            <a:off x="1233948" y="1837746"/>
            <a:ext cx="8021813" cy="4233333"/>
          </a:xfrm>
        </p:spPr>
        <p:txBody>
          <a:bodyPr>
            <a:normAutofit/>
          </a:bodyPr>
          <a:lstStyle/>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REVIEW 2 COMMENTS</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MODULE-WISE IMPLEMENTATION</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COMPARISON AND DISCUSSION (GRAPHICAL REPRESENTATION)</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RESULTS</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CONCLUSION</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FUTURE DIRECTION</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21461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65057" y="2858250"/>
            <a:ext cx="4486656" cy="1141497"/>
          </a:xfrm>
        </p:spPr>
        <p:txBody>
          <a:bodyPr/>
          <a:lstStyle/>
          <a:p>
            <a:r>
              <a:rPr lang="en-US" dirty="0"/>
              <a:t>REVIEW-2 COMMENTS</a:t>
            </a:r>
            <a:endParaRPr lang="en-IN" dirty="0"/>
          </a:p>
        </p:txBody>
      </p:sp>
      <p:sp>
        <p:nvSpPr>
          <p:cNvPr id="5" name="Title 1"/>
          <p:cNvSpPr>
            <a:spLocks noGrp="1"/>
          </p:cNvSpPr>
          <p:nvPr>
            <p:ph idx="1"/>
          </p:nvPr>
        </p:nvSpPr>
        <p:spPr>
          <a:xfrm>
            <a:off x="6322142" y="218767"/>
            <a:ext cx="5692877" cy="6420465"/>
          </a:xfrm>
          <a:noFill/>
          <a:ln w="38100">
            <a:solidFill>
              <a:srgbClr val="404040">
                <a:alpha val="57000"/>
              </a:srgbClr>
            </a:solidFill>
          </a:ln>
        </p:spPr>
        <p:txBody>
          <a:bodyPr>
            <a:normAutofit/>
          </a:bodyPr>
          <a:lstStyle/>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a:buNone/>
            </a:pPr>
            <a:r>
              <a:rPr lang="en-US" sz="1600" b="1" dirty="0"/>
              <a:t>1. Provide Better Explanation of Trading Signals</a:t>
            </a:r>
            <a:br>
              <a:rPr lang="en-US" sz="1600" dirty="0"/>
            </a:br>
            <a:r>
              <a:rPr lang="en-US" sz="1600" dirty="0"/>
              <a:t>The explanation of Buy, Sell, and Hold signals generated by the system should be more detailed. The project should clearly describe how the Moving Average Crossover strategy works and how investors can interpret these signals for decision making.</a:t>
            </a:r>
          </a:p>
          <a:p>
            <a:pPr>
              <a:buNone/>
            </a:pPr>
            <a:endParaRPr lang="en-US" sz="1600" dirty="0"/>
          </a:p>
          <a:p>
            <a:pPr>
              <a:buNone/>
            </a:pPr>
            <a:r>
              <a:rPr lang="en-US" sz="1600" b="1" dirty="0"/>
              <a:t>2. Include More Machine Learning Algorithms</a:t>
            </a:r>
            <a:br>
              <a:rPr lang="en-US" sz="1600" dirty="0"/>
            </a:br>
            <a:r>
              <a:rPr lang="en-US" sz="1600" dirty="0"/>
              <a:t>The current system mainly relies on the Moving Average Crossover technique, which is a rule-based strategy. The panel recommended integrating additional machine learning algorithms to improve prediction accuracy and enhance the analytical capability of the system.</a:t>
            </a:r>
            <a:endParaRPr lang="en-US" sz="1800" dirty="0">
              <a:latin typeface="Times New Roman" panose="02020603050405020304" pitchFamily="18" charset="0"/>
              <a:cs typeface="Times New Roman" panose="02020603050405020304" pitchFamily="18" charset="0"/>
            </a:endParaRPr>
          </a:p>
          <a:p>
            <a:pPr>
              <a:buNone/>
            </a:pPr>
            <a:endParaRPr lang="en-US" sz="1800" dirty="0">
              <a:latin typeface="Times New Roman" panose="02020603050405020304" pitchFamily="18" charset="0"/>
              <a:cs typeface="Times New Roman" panose="02020603050405020304" pitchFamily="18" charset="0"/>
            </a:endParaRPr>
          </a:p>
          <a:p>
            <a:pPr>
              <a:buNone/>
            </a:pPr>
            <a:r>
              <a:rPr lang="en-US" sz="1800" dirty="0">
                <a:latin typeface="Times New Roman" panose="02020603050405020304" pitchFamily="18" charset="0"/>
                <a:cs typeface="Times New Roman" panose="02020603050405020304" pitchFamily="18" charset="0"/>
              </a:rPr>
              <a:t>Such Algorithms are:</a:t>
            </a:r>
            <a:r>
              <a:rPr lang="en-US" sz="1600" dirty="0">
                <a:latin typeface="Times New Roman" panose="02020603050405020304" pitchFamily="18" charset="0"/>
                <a:cs typeface="Times New Roman" panose="02020603050405020304" pitchFamily="18" charset="0"/>
              </a:rPr>
              <a:t>-</a:t>
            </a:r>
          </a:p>
          <a:p>
            <a:pPr marL="342900" indent="-342900">
              <a:buAutoNum type="arabicPeriod"/>
            </a:pPr>
            <a:r>
              <a:rPr lang="en-US" sz="1600" dirty="0">
                <a:latin typeface="Times New Roman" panose="02020603050405020304" pitchFamily="18" charset="0"/>
                <a:cs typeface="Times New Roman" panose="02020603050405020304" pitchFamily="18" charset="0"/>
              </a:rPr>
              <a:t>Random Forest for stock market movement classification</a:t>
            </a:r>
          </a:p>
          <a:p>
            <a:pPr marL="342900" indent="-342900">
              <a:buAutoNum type="arabicPeriod"/>
            </a:pPr>
            <a:r>
              <a:rPr lang="en-US" sz="1600" dirty="0">
                <a:latin typeface="Times New Roman" panose="02020603050405020304" pitchFamily="18" charset="0"/>
                <a:cs typeface="Times New Roman" panose="02020603050405020304" pitchFamily="18" charset="0"/>
              </a:rPr>
              <a:t>Support Vector Machine (SVM) for pattern detection</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140677"/>
            <a:ext cx="8991600" cy="799602"/>
          </a:xfrm>
        </p:spPr>
        <p:txBody>
          <a:bodyPr>
            <a:normAutofit fontScale="90000"/>
          </a:bodyPr>
          <a:lstStyle/>
          <a:p>
            <a:r>
              <a:rPr lang="en-IN" dirty="0"/>
              <a:t>Module wise implementation</a:t>
            </a:r>
          </a:p>
        </p:txBody>
      </p:sp>
      <p:sp>
        <p:nvSpPr>
          <p:cNvPr id="3" name="ContentBody"/>
          <p:cNvSpPr txBox="1"/>
          <p:nvPr/>
        </p:nvSpPr>
        <p:spPr>
          <a:xfrm>
            <a:off x="58947" y="974783"/>
            <a:ext cx="12074106" cy="6193766"/>
          </a:xfrm>
        </p:spPr>
        <p:txBody>
          <a:bodyPr>
            <a:noAutofit/>
          </a:bodyPr>
          <a:lstStyle/>
          <a:p>
            <a:r>
              <a:rPr lang="en-US" sz="1500" b="1" dirty="0"/>
              <a:t>1. Data Collection Module</a:t>
            </a:r>
          </a:p>
          <a:p>
            <a:r>
              <a:rPr lang="en-US" sz="1500" dirty="0"/>
              <a:t>This module collects historical stock market data from available financial datasets or APIs. The collected data includes attributes such as stock symbol, date, open price, close price, high price, low price, and volume.</a:t>
            </a:r>
          </a:p>
          <a:p>
            <a:endParaRPr lang="en-US" sz="1500" dirty="0"/>
          </a:p>
          <a:p>
            <a:r>
              <a:rPr lang="en-US" sz="1500" b="1" dirty="0"/>
              <a:t>2. Data Processing Module (Apache Spark)</a:t>
            </a:r>
          </a:p>
          <a:p>
            <a:r>
              <a:rPr lang="en-US" sz="1500" dirty="0"/>
              <a:t>Apache Spark with </a:t>
            </a:r>
            <a:r>
              <a:rPr lang="en-US" sz="1500" dirty="0" err="1"/>
              <a:t>PySpark</a:t>
            </a:r>
            <a:r>
              <a:rPr lang="en-US" sz="1500" dirty="0"/>
              <a:t> is used to process large stock datasets. Spark enables distributed computing, allowing efficient filtering, transformation, and aggregation of stock market data.</a:t>
            </a:r>
          </a:p>
          <a:p>
            <a:endParaRPr lang="en-US" sz="1500" dirty="0"/>
          </a:p>
          <a:p>
            <a:r>
              <a:rPr lang="en-US" sz="1500" b="1" dirty="0"/>
              <a:t>3. Feature Engineering Module</a:t>
            </a:r>
          </a:p>
          <a:p>
            <a:r>
              <a:rPr lang="en-US" sz="1500" dirty="0"/>
              <a:t>In this module, financial indicators are calculated. The main indicator used is the </a:t>
            </a:r>
            <a:r>
              <a:rPr lang="en-US" sz="1500" b="1" dirty="0"/>
              <a:t>Moving Average Crossover Strategy</a:t>
            </a:r>
            <a:r>
              <a:rPr lang="en-US" sz="1500" dirty="0"/>
              <a:t>, where:</a:t>
            </a:r>
          </a:p>
          <a:p>
            <a:r>
              <a:rPr lang="en-US" sz="1500" dirty="0"/>
              <a:t>MA10 represents the short-term moving average.</a:t>
            </a:r>
          </a:p>
          <a:p>
            <a:r>
              <a:rPr lang="en-US" sz="1500" dirty="0"/>
              <a:t>MA50 represents the long-term moving average.</a:t>
            </a:r>
          </a:p>
          <a:p>
            <a:r>
              <a:rPr lang="en-US" sz="1500" dirty="0"/>
              <a:t>These indicators help identify market trends.</a:t>
            </a:r>
          </a:p>
          <a:p>
            <a:endParaRPr lang="en-US" sz="1500" dirty="0"/>
          </a:p>
          <a:p>
            <a:r>
              <a:rPr lang="en-US" sz="1500" b="1" dirty="0"/>
              <a:t>4. Signal Generation Module</a:t>
            </a:r>
          </a:p>
          <a:p>
            <a:r>
              <a:rPr lang="en-US" sz="1500" dirty="0"/>
              <a:t>This module generates trading signals based on the crossover rule:</a:t>
            </a:r>
          </a:p>
          <a:p>
            <a:r>
              <a:rPr lang="en-US" sz="1500" dirty="0"/>
              <a:t>• </a:t>
            </a:r>
            <a:r>
              <a:rPr lang="en-US" sz="1500" b="1" dirty="0"/>
              <a:t>Buy Signal</a:t>
            </a:r>
            <a:r>
              <a:rPr lang="en-US" sz="1500" dirty="0"/>
              <a:t> → When MA10 crosses above MA50</a:t>
            </a:r>
            <a:br>
              <a:rPr lang="en-US" sz="1500" dirty="0"/>
            </a:br>
            <a:r>
              <a:rPr lang="en-US" sz="1500" dirty="0"/>
              <a:t>• </a:t>
            </a:r>
            <a:r>
              <a:rPr lang="en-US" sz="1500" b="1" dirty="0"/>
              <a:t>Sell Signal</a:t>
            </a:r>
            <a:r>
              <a:rPr lang="en-US" sz="1500" dirty="0"/>
              <a:t> → When MA10 crosses below MA50</a:t>
            </a:r>
            <a:br>
              <a:rPr lang="en-US" sz="1500" dirty="0"/>
            </a:br>
            <a:r>
              <a:rPr lang="en-US" sz="1500" dirty="0"/>
              <a:t>• </a:t>
            </a:r>
            <a:r>
              <a:rPr lang="en-US" sz="1500" b="1" dirty="0"/>
              <a:t>Hold Signal</a:t>
            </a:r>
            <a:r>
              <a:rPr lang="en-US" sz="1500" dirty="0"/>
              <a:t> → When there is no crossover</a:t>
            </a:r>
          </a:p>
          <a:p>
            <a:endParaRPr lang="en-US" sz="1500" dirty="0"/>
          </a:p>
          <a:p>
            <a:r>
              <a:rPr lang="en-US" sz="1500" b="1" dirty="0"/>
              <a:t>5. Visualization Module (</a:t>
            </a:r>
            <a:r>
              <a:rPr lang="en-US" sz="1500" b="1" dirty="0" err="1"/>
              <a:t>Streamlit</a:t>
            </a:r>
            <a:r>
              <a:rPr lang="en-US" sz="1500" b="1" dirty="0"/>
              <a:t> Dashboard)</a:t>
            </a:r>
          </a:p>
          <a:p>
            <a:r>
              <a:rPr lang="en-US" sz="1500" dirty="0"/>
              <a:t>A </a:t>
            </a:r>
            <a:r>
              <a:rPr lang="en-US" sz="1500" dirty="0" err="1"/>
              <a:t>Streamlit</a:t>
            </a:r>
            <a:r>
              <a:rPr lang="en-US" sz="1500" dirty="0"/>
              <a:t> web dashboard is developed to display:</a:t>
            </a:r>
          </a:p>
          <a:p>
            <a:r>
              <a:rPr lang="en-US" sz="1500" dirty="0"/>
              <a:t>• Stock price trends</a:t>
            </a:r>
            <a:br>
              <a:rPr lang="en-US" sz="1500" dirty="0"/>
            </a:br>
            <a:r>
              <a:rPr lang="en-US" sz="1500" dirty="0"/>
              <a:t>• Candlestick charts</a:t>
            </a:r>
            <a:br>
              <a:rPr lang="en-US" sz="1500" dirty="0"/>
            </a:br>
            <a:r>
              <a:rPr lang="en-US" sz="1500" dirty="0"/>
              <a:t>• Generated trading signals</a:t>
            </a:r>
          </a:p>
          <a:p>
            <a:pPr algn="l">
              <a:lnSpc>
                <a:spcPts val="3000"/>
              </a:lnSpc>
            </a:pPr>
            <a:endParaRPr lang="en-US" sz="1500" b="1" dirty="0"/>
          </a:p>
        </p:txBody>
      </p:sp>
    </p:spTree>
    <p:extLst>
      <p:ext uri="{BB962C8B-B14F-4D97-AF65-F5344CB8AC3E}">
        <p14:creationId xmlns:p14="http://schemas.microsoft.com/office/powerpoint/2010/main" val="416446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4E86-3711-92D3-C228-F7B51ED7B5C5}"/>
              </a:ext>
            </a:extLst>
          </p:cNvPr>
          <p:cNvSpPr>
            <a:spLocks noGrp="1"/>
          </p:cNvSpPr>
          <p:nvPr>
            <p:ph type="ctrTitle"/>
          </p:nvPr>
        </p:nvSpPr>
        <p:spPr>
          <a:xfrm>
            <a:off x="1306902" y="540691"/>
            <a:ext cx="8991600" cy="1305362"/>
          </a:xfrm>
        </p:spPr>
        <p:txBody>
          <a:bodyPr/>
          <a:lstStyle/>
          <a:p>
            <a:r>
              <a:rPr lang="en-IN" dirty="0"/>
              <a:t>LITERATURE SURVEY</a:t>
            </a:r>
          </a:p>
        </p:txBody>
      </p:sp>
      <p:sp>
        <p:nvSpPr>
          <p:cNvPr id="3" name="ContentBody"/>
          <p:cNvSpPr txBox="1"/>
          <p:nvPr/>
        </p:nvSpPr>
        <p:spPr>
          <a:xfrm>
            <a:off x="1117599" y="2133600"/>
            <a:ext cx="9561903" cy="4258574"/>
          </a:xfrm>
        </p:spPr>
        <p:txBody>
          <a:bodyPr>
            <a:normAutofit/>
          </a:bodyPr>
          <a:lstStyle/>
          <a:p>
            <a:pPr algn="l">
              <a:lnSpc>
                <a:spcPts val="2800"/>
              </a:lnSpc>
            </a:pPr>
            <a:endParaRPr lang="en-US" sz="1400" dirty="0"/>
          </a:p>
        </p:txBody>
      </p:sp>
      <p:graphicFrame>
        <p:nvGraphicFramePr>
          <p:cNvPr id="4" name="Table 3">
            <a:extLst>
              <a:ext uri="{FF2B5EF4-FFF2-40B4-BE49-F238E27FC236}">
                <a16:creationId xmlns:a16="http://schemas.microsoft.com/office/drawing/2014/main" id="{F79F579E-4065-A7EB-E6F9-9E672907D45A}"/>
              </a:ext>
            </a:extLst>
          </p:cNvPr>
          <p:cNvGraphicFramePr>
            <a:graphicFrameLocks noGrp="1"/>
          </p:cNvGraphicFramePr>
          <p:nvPr>
            <p:extLst>
              <p:ext uri="{D42A27DB-BD31-4B8C-83A1-F6EECF244321}">
                <p14:modId xmlns:p14="http://schemas.microsoft.com/office/powerpoint/2010/main" val="3089926250"/>
              </p:ext>
            </p:extLst>
          </p:nvPr>
        </p:nvGraphicFramePr>
        <p:xfrm>
          <a:off x="866276" y="1942454"/>
          <a:ext cx="10208125" cy="4640866"/>
        </p:xfrm>
        <a:graphic>
          <a:graphicData uri="http://schemas.openxmlformats.org/drawingml/2006/table">
            <a:tbl>
              <a:tblPr firstRow="1" bandRow="1">
                <a:tableStyleId>{073A0DAA-6AF3-43AB-8588-CEC1D06C72B9}</a:tableStyleId>
              </a:tblPr>
              <a:tblGrid>
                <a:gridCol w="2041625">
                  <a:extLst>
                    <a:ext uri="{9D8B030D-6E8A-4147-A177-3AD203B41FA5}">
                      <a16:colId xmlns:a16="http://schemas.microsoft.com/office/drawing/2014/main" val="3974836395"/>
                    </a:ext>
                  </a:extLst>
                </a:gridCol>
                <a:gridCol w="2041625">
                  <a:extLst>
                    <a:ext uri="{9D8B030D-6E8A-4147-A177-3AD203B41FA5}">
                      <a16:colId xmlns:a16="http://schemas.microsoft.com/office/drawing/2014/main" val="743744649"/>
                    </a:ext>
                  </a:extLst>
                </a:gridCol>
                <a:gridCol w="2041625">
                  <a:extLst>
                    <a:ext uri="{9D8B030D-6E8A-4147-A177-3AD203B41FA5}">
                      <a16:colId xmlns:a16="http://schemas.microsoft.com/office/drawing/2014/main" val="2249422237"/>
                    </a:ext>
                  </a:extLst>
                </a:gridCol>
                <a:gridCol w="2041625">
                  <a:extLst>
                    <a:ext uri="{9D8B030D-6E8A-4147-A177-3AD203B41FA5}">
                      <a16:colId xmlns:a16="http://schemas.microsoft.com/office/drawing/2014/main" val="3093077391"/>
                    </a:ext>
                  </a:extLst>
                </a:gridCol>
                <a:gridCol w="2041625">
                  <a:extLst>
                    <a:ext uri="{9D8B030D-6E8A-4147-A177-3AD203B41FA5}">
                      <a16:colId xmlns:a16="http://schemas.microsoft.com/office/drawing/2014/main" val="53820470"/>
                    </a:ext>
                  </a:extLst>
                </a:gridCol>
              </a:tblGrid>
              <a:tr h="983266">
                <a:tc>
                  <a:txBody>
                    <a:bodyPr/>
                    <a:lstStyle/>
                    <a:p>
                      <a:pPr>
                        <a:buNone/>
                      </a:pPr>
                      <a:r>
                        <a:rPr lang="en-IN" dirty="0"/>
                        <a:t>Paper</a:t>
                      </a:r>
                    </a:p>
                  </a:txBody>
                  <a:tcPr anchor="ctr"/>
                </a:tc>
                <a:tc>
                  <a:txBody>
                    <a:bodyPr/>
                    <a:lstStyle/>
                    <a:p>
                      <a:pPr>
                        <a:buNone/>
                      </a:pPr>
                      <a:r>
                        <a:rPr lang="en-IN"/>
                        <a:t>Method</a:t>
                      </a:r>
                    </a:p>
                  </a:txBody>
                  <a:tcPr anchor="ctr"/>
                </a:tc>
                <a:tc>
                  <a:txBody>
                    <a:bodyPr/>
                    <a:lstStyle/>
                    <a:p>
                      <a:pPr>
                        <a:buNone/>
                      </a:pPr>
                      <a:r>
                        <a:rPr lang="en-IN"/>
                        <a:t>Drawbacks</a:t>
                      </a:r>
                    </a:p>
                  </a:txBody>
                  <a:tcPr anchor="ctr"/>
                </a:tc>
                <a:tc>
                  <a:txBody>
                    <a:bodyPr/>
                    <a:lstStyle/>
                    <a:p>
                      <a:pPr>
                        <a:buNone/>
                      </a:pPr>
                      <a:r>
                        <a:rPr lang="en-IN"/>
                        <a:t>Future Directions</a:t>
                      </a:r>
                    </a:p>
                  </a:txBody>
                  <a:tcPr anchor="ctr"/>
                </a:tc>
                <a:tc>
                  <a:txBody>
                    <a:bodyPr/>
                    <a:lstStyle/>
                    <a:p>
                      <a:pPr>
                        <a:buNone/>
                      </a:pPr>
                      <a:r>
                        <a:rPr lang="en-IN" dirty="0"/>
                        <a:t>Link</a:t>
                      </a:r>
                    </a:p>
                  </a:txBody>
                  <a:tcPr anchor="ctr"/>
                </a:tc>
                <a:extLst>
                  <a:ext uri="{0D108BD9-81ED-4DB2-BD59-A6C34878D82A}">
                    <a16:rowId xmlns:a16="http://schemas.microsoft.com/office/drawing/2014/main" val="2444671701"/>
                  </a:ext>
                </a:extLst>
              </a:tr>
              <a:tr h="749281">
                <a:tc>
                  <a:txBody>
                    <a:bodyPr/>
                    <a:lstStyle/>
                    <a:p>
                      <a:pPr>
                        <a:buNone/>
                      </a:pPr>
                      <a:r>
                        <a:rPr lang="en-US" dirty="0"/>
                        <a:t>Stock Price Prediction using LSTM</a:t>
                      </a:r>
                    </a:p>
                  </a:txBody>
                  <a:tcPr anchor="ctr"/>
                </a:tc>
                <a:tc>
                  <a:txBody>
                    <a:bodyPr/>
                    <a:lstStyle/>
                    <a:p>
                      <a:r>
                        <a:rPr lang="en-IN" dirty="0"/>
                        <a:t>Deep learning time-series forecasting</a:t>
                      </a:r>
                    </a:p>
                  </a:txBody>
                  <a:tcPr/>
                </a:tc>
                <a:tc>
                  <a:txBody>
                    <a:bodyPr/>
                    <a:lstStyle/>
                    <a:p>
                      <a:r>
                        <a:rPr lang="en-IN" dirty="0"/>
                        <a:t>Requires large historical datasets</a:t>
                      </a:r>
                    </a:p>
                  </a:txBody>
                  <a:tcPr/>
                </a:tc>
                <a:tc>
                  <a:txBody>
                    <a:bodyPr/>
                    <a:lstStyle/>
                    <a:p>
                      <a:r>
                        <a:rPr lang="en-IN" dirty="0"/>
                        <a:t>Hybrid deep learning models</a:t>
                      </a:r>
                    </a:p>
                  </a:txBody>
                  <a:tcPr/>
                </a:tc>
                <a:tc>
                  <a:txBody>
                    <a:bodyPr/>
                    <a:lstStyle/>
                    <a:p>
                      <a:r>
                        <a:rPr lang="en-IN" dirty="0">
                          <a:hlinkClick r:id="rId2"/>
                        </a:rPr>
                        <a:t>https://ieeexplore.ieee.org</a:t>
                      </a:r>
                      <a:endParaRPr lang="en-IN" dirty="0"/>
                    </a:p>
                  </a:txBody>
                  <a:tcPr/>
                </a:tc>
                <a:extLst>
                  <a:ext uri="{0D108BD9-81ED-4DB2-BD59-A6C34878D82A}">
                    <a16:rowId xmlns:a16="http://schemas.microsoft.com/office/drawing/2014/main" val="142516311"/>
                  </a:ext>
                </a:extLst>
              </a:tr>
              <a:tr h="569669">
                <a:tc>
                  <a:txBody>
                    <a:bodyPr/>
                    <a:lstStyle/>
                    <a:p>
                      <a:r>
                        <a:rPr lang="en-US" dirty="0"/>
                        <a:t>Machine Learning in Stock Market Prediction</a:t>
                      </a:r>
                      <a:endParaRPr lang="en-IN" dirty="0"/>
                    </a:p>
                  </a:txBody>
                  <a:tcPr/>
                </a:tc>
                <a:tc>
                  <a:txBody>
                    <a:bodyPr/>
                    <a:lstStyle/>
                    <a:p>
                      <a:r>
                        <a:rPr lang="en-IN" dirty="0"/>
                        <a:t>ML regression &amp; classification models</a:t>
                      </a:r>
                    </a:p>
                  </a:txBody>
                  <a:tcPr/>
                </a:tc>
                <a:tc>
                  <a:txBody>
                    <a:bodyPr/>
                    <a:lstStyle/>
                    <a:p>
                      <a:r>
                        <a:rPr lang="en-US" dirty="0"/>
                        <a:t>Limited accuracy during volatile markets</a:t>
                      </a:r>
                      <a:endParaRPr lang="en-IN" dirty="0"/>
                    </a:p>
                  </a:txBody>
                  <a:tcPr/>
                </a:tc>
                <a:tc>
                  <a:txBody>
                    <a:bodyPr/>
                    <a:lstStyle/>
                    <a:p>
                      <a:r>
                        <a:rPr lang="en-IN" dirty="0"/>
                        <a:t>Reinforcement learning trading models</a:t>
                      </a:r>
                    </a:p>
                  </a:txBody>
                  <a:tcPr/>
                </a:tc>
                <a:tc>
                  <a:txBody>
                    <a:bodyPr/>
                    <a:lstStyle/>
                    <a:p>
                      <a:r>
                        <a:rPr lang="en-IN" dirty="0">
                          <a:hlinkClick r:id="rId3"/>
                        </a:rPr>
                        <a:t>https://arxiv.org</a:t>
                      </a:r>
                      <a:endParaRPr lang="en-IN" dirty="0"/>
                    </a:p>
                  </a:txBody>
                  <a:tcPr/>
                </a:tc>
                <a:extLst>
                  <a:ext uri="{0D108BD9-81ED-4DB2-BD59-A6C34878D82A}">
                    <a16:rowId xmlns:a16="http://schemas.microsoft.com/office/drawing/2014/main" val="1352547692"/>
                  </a:ext>
                </a:extLst>
              </a:tr>
              <a:tr h="569669">
                <a:tc>
                  <a:txBody>
                    <a:bodyPr/>
                    <a:lstStyle/>
                    <a:p>
                      <a:r>
                        <a:rPr lang="en-US" dirty="0"/>
                        <a:t>Real-Time Financial Data Analytics using Apache Spark</a:t>
                      </a:r>
                      <a:endParaRPr lang="en-IN" dirty="0"/>
                    </a:p>
                  </a:txBody>
                  <a:tcPr/>
                </a:tc>
                <a:tc>
                  <a:txBody>
                    <a:bodyPr/>
                    <a:lstStyle/>
                    <a:p>
                      <a:r>
                        <a:rPr lang="en-IN" dirty="0"/>
                        <a:t>Distributed data processing</a:t>
                      </a:r>
                    </a:p>
                  </a:txBody>
                  <a:tcPr/>
                </a:tc>
                <a:tc>
                  <a:txBody>
                    <a:bodyPr/>
                    <a:lstStyle/>
                    <a:p>
                      <a:r>
                        <a:rPr lang="en-IN" dirty="0"/>
                        <a:t>Infrastructure complexity</a:t>
                      </a:r>
                    </a:p>
                  </a:txBody>
                  <a:tcPr/>
                </a:tc>
                <a:tc>
                  <a:txBody>
                    <a:bodyPr/>
                    <a:lstStyle/>
                    <a:p>
                      <a:r>
                        <a:rPr lang="en-IN" dirty="0"/>
                        <a:t>Spark structured streaming integration</a:t>
                      </a:r>
                    </a:p>
                  </a:txBody>
                  <a:tcPr/>
                </a:tc>
                <a:tc>
                  <a:txBody>
                    <a:bodyPr/>
                    <a:lstStyle/>
                    <a:p>
                      <a:r>
                        <a:rPr lang="en-IN" dirty="0">
                          <a:hlinkClick r:id="rId4"/>
                        </a:rPr>
                        <a:t>https://spark.apache.org</a:t>
                      </a:r>
                      <a:endParaRPr lang="en-IN" dirty="0"/>
                    </a:p>
                  </a:txBody>
                  <a:tcPr/>
                </a:tc>
                <a:extLst>
                  <a:ext uri="{0D108BD9-81ED-4DB2-BD59-A6C34878D82A}">
                    <a16:rowId xmlns:a16="http://schemas.microsoft.com/office/drawing/2014/main" val="1675858329"/>
                  </a:ext>
                </a:extLst>
              </a:tr>
              <a:tr h="569669">
                <a:tc>
                  <a:txBody>
                    <a:bodyPr/>
                    <a:lstStyle/>
                    <a:p>
                      <a:r>
                        <a:rPr lang="en-US" dirty="0"/>
                        <a:t>Financial Market Analysis using Technical Indicators</a:t>
                      </a:r>
                      <a:endParaRPr lang="en-IN" dirty="0"/>
                    </a:p>
                  </a:txBody>
                  <a:tcPr/>
                </a:tc>
                <a:tc>
                  <a:txBody>
                    <a:bodyPr/>
                    <a:lstStyle/>
                    <a:p>
                      <a:r>
                        <a:rPr lang="en-IN" dirty="0"/>
                        <a:t>Distributed data processing</a:t>
                      </a:r>
                    </a:p>
                  </a:txBody>
                  <a:tcPr/>
                </a:tc>
                <a:tc>
                  <a:txBody>
                    <a:bodyPr/>
                    <a:lstStyle/>
                    <a:p>
                      <a:r>
                        <a:rPr lang="en-US" dirty="0"/>
                        <a:t>Cannot capture complex market dynamics</a:t>
                      </a:r>
                      <a:endParaRPr lang="en-IN" dirty="0"/>
                    </a:p>
                  </a:txBody>
                  <a:tcPr/>
                </a:tc>
                <a:tc>
                  <a:txBody>
                    <a:bodyPr/>
                    <a:lstStyle/>
                    <a:p>
                      <a:r>
                        <a:rPr lang="en-IN" dirty="0"/>
                        <a:t>AI-driven trading strategies</a:t>
                      </a:r>
                    </a:p>
                  </a:txBody>
                  <a:tcPr/>
                </a:tc>
                <a:tc>
                  <a:txBody>
                    <a:bodyPr/>
                    <a:lstStyle/>
                    <a:p>
                      <a:r>
                        <a:rPr lang="en-IN" dirty="0">
                          <a:hlinkClick r:id="rId5"/>
                        </a:rPr>
                        <a:t>https://www.sciencedirect.com</a:t>
                      </a:r>
                      <a:endParaRPr lang="en-IN" dirty="0"/>
                    </a:p>
                  </a:txBody>
                  <a:tcPr/>
                </a:tc>
                <a:extLst>
                  <a:ext uri="{0D108BD9-81ED-4DB2-BD59-A6C34878D82A}">
                    <a16:rowId xmlns:a16="http://schemas.microsoft.com/office/drawing/2014/main" val="2986149833"/>
                  </a:ext>
                </a:extLst>
              </a:tr>
            </a:tbl>
          </a:graphicData>
        </a:graphic>
      </p:graphicFrame>
    </p:spTree>
    <p:extLst>
      <p:ext uri="{BB962C8B-B14F-4D97-AF65-F5344CB8AC3E}">
        <p14:creationId xmlns:p14="http://schemas.microsoft.com/office/powerpoint/2010/main" val="3321107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4F638-1F7F-7E0A-6DB7-68C4C180B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66B02-FAFB-E463-A49B-710442E4B9DF}"/>
              </a:ext>
            </a:extLst>
          </p:cNvPr>
          <p:cNvSpPr>
            <a:spLocks noGrp="1"/>
          </p:cNvSpPr>
          <p:nvPr>
            <p:ph type="ctrTitle"/>
          </p:nvPr>
        </p:nvSpPr>
        <p:spPr>
          <a:xfrm>
            <a:off x="1600200" y="416378"/>
            <a:ext cx="8991600" cy="1239894"/>
          </a:xfrm>
        </p:spPr>
        <p:txBody>
          <a:bodyPr/>
          <a:lstStyle/>
          <a:p>
            <a:r>
              <a:rPr lang="en-US" dirty="0"/>
              <a:t>P</a:t>
            </a:r>
            <a:r>
              <a:rPr lang="en-IN" dirty="0"/>
              <a:t>ROBLEM STATEMENT</a:t>
            </a:r>
          </a:p>
        </p:txBody>
      </p:sp>
      <p:sp>
        <p:nvSpPr>
          <p:cNvPr id="3" name="ContentBody">
            <a:extLst>
              <a:ext uri="{FF2B5EF4-FFF2-40B4-BE49-F238E27FC236}">
                <a16:creationId xmlns:a16="http://schemas.microsoft.com/office/drawing/2014/main" id="{404E7EDF-AE58-C6A4-D1F1-BC8C2E503233}"/>
              </a:ext>
            </a:extLst>
          </p:cNvPr>
          <p:cNvSpPr txBox="1"/>
          <p:nvPr/>
        </p:nvSpPr>
        <p:spPr>
          <a:xfrm>
            <a:off x="665671" y="2009955"/>
            <a:ext cx="10877910" cy="4244196"/>
          </a:xfrm>
        </p:spPr>
        <p:txBody>
          <a:bodyPr>
            <a:normAutofit/>
          </a:bodyPr>
          <a:lstStyle/>
          <a:p>
            <a:pPr>
              <a:buNone/>
            </a:pPr>
            <a:r>
              <a:rPr lang="en-US" sz="2000" dirty="0"/>
              <a:t>Financial markets generate large volumes of real-time data that are difficult to analyze using traditional tools. Investors often rely on limited indicators or manual analysis, which may lead to inaccurate trading decisions. There is a need for a system that can process large-scale financial data efficiently, generate insights using data analytics and machine learning, and present the results through an interactive dashboard for better decision making.</a:t>
            </a:r>
          </a:p>
          <a:p>
            <a:pPr>
              <a:buNone/>
            </a:pPr>
            <a:endParaRPr lang="en-US" sz="1600" dirty="0"/>
          </a:p>
          <a:p>
            <a:pPr>
              <a:buNone/>
            </a:pPr>
            <a:endParaRPr lang="en-US" sz="1600" dirty="0"/>
          </a:p>
          <a:p>
            <a:pPr>
              <a:buNone/>
            </a:pPr>
            <a:r>
              <a:rPr lang="en-US" sz="2400" dirty="0"/>
              <a:t>The goal of this project is to build a </a:t>
            </a:r>
            <a:r>
              <a:rPr lang="en-US" sz="2400" b="1" dirty="0"/>
              <a:t>Big Data Stock Market Analytics system</a:t>
            </a:r>
            <a:r>
              <a:rPr lang="en-US" sz="2400" dirty="0"/>
              <a:t> that uses </a:t>
            </a:r>
            <a:r>
              <a:rPr lang="en-US" sz="2400" b="1" dirty="0"/>
              <a:t>Apache Spark for large-scale data processing</a:t>
            </a:r>
            <a:r>
              <a:rPr lang="en-US" sz="2400" dirty="0"/>
              <a:t> and provides an </a:t>
            </a:r>
            <a:r>
              <a:rPr lang="en-US" sz="2400" b="1" dirty="0"/>
              <a:t>interactive dashboard with AI-based prediction, trading signals, and simulated trading features</a:t>
            </a:r>
            <a:r>
              <a:rPr lang="en-US" sz="2400" dirty="0"/>
              <a:t>.</a:t>
            </a:r>
          </a:p>
        </p:txBody>
      </p:sp>
    </p:spTree>
    <p:extLst>
      <p:ext uri="{BB962C8B-B14F-4D97-AF65-F5344CB8AC3E}">
        <p14:creationId xmlns:p14="http://schemas.microsoft.com/office/powerpoint/2010/main" val="1423966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9D270-5930-A752-C240-2963D29B2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E6314-B4AA-32D1-8A1D-AFE1B9F16ED0}"/>
              </a:ext>
            </a:extLst>
          </p:cNvPr>
          <p:cNvSpPr>
            <a:spLocks noGrp="1"/>
          </p:cNvSpPr>
          <p:nvPr>
            <p:ph type="ctrTitle"/>
          </p:nvPr>
        </p:nvSpPr>
        <p:spPr>
          <a:xfrm>
            <a:off x="1600200" y="416378"/>
            <a:ext cx="8991600" cy="1239894"/>
          </a:xfrm>
        </p:spPr>
        <p:txBody>
          <a:bodyPr/>
          <a:lstStyle/>
          <a:p>
            <a:r>
              <a:rPr lang="en-US" dirty="0"/>
              <a:t>EXISTING SYSTEM</a:t>
            </a:r>
            <a:endParaRPr lang="en-IN" dirty="0"/>
          </a:p>
        </p:txBody>
      </p:sp>
      <p:sp>
        <p:nvSpPr>
          <p:cNvPr id="3" name="ContentBody">
            <a:extLst>
              <a:ext uri="{FF2B5EF4-FFF2-40B4-BE49-F238E27FC236}">
                <a16:creationId xmlns:a16="http://schemas.microsoft.com/office/drawing/2014/main" id="{C4CD5AD1-A6C1-794E-B652-FE4EF7D38A20}"/>
              </a:ext>
            </a:extLst>
          </p:cNvPr>
          <p:cNvSpPr txBox="1"/>
          <p:nvPr/>
        </p:nvSpPr>
        <p:spPr>
          <a:xfrm>
            <a:off x="665671" y="2009955"/>
            <a:ext cx="10877910" cy="4244196"/>
          </a:xfrm>
        </p:spPr>
        <p:txBody>
          <a:bodyPr>
            <a:normAutofit/>
          </a:bodyPr>
          <a:lstStyle/>
          <a:p>
            <a:r>
              <a:rPr lang="en-US" sz="2000" dirty="0"/>
              <a:t>Currently, investors use platforms such as </a:t>
            </a:r>
            <a:r>
              <a:rPr lang="en-US" sz="2000" b="1" dirty="0"/>
              <a:t>Angel One, </a:t>
            </a:r>
            <a:r>
              <a:rPr lang="en-US" sz="2000" b="1" dirty="0" err="1"/>
              <a:t>Groww</a:t>
            </a:r>
            <a:r>
              <a:rPr lang="en-US" sz="2000" b="1" dirty="0"/>
              <a:t>, and </a:t>
            </a:r>
            <a:r>
              <a:rPr lang="en-US" sz="2000" b="1" dirty="0" err="1"/>
              <a:t>Zerodha</a:t>
            </a:r>
            <a:r>
              <a:rPr lang="en-US" sz="2000" dirty="0"/>
              <a:t> for stock analysis and trading.</a:t>
            </a:r>
          </a:p>
          <a:p>
            <a:endParaRPr lang="en-US" sz="2000" dirty="0"/>
          </a:p>
          <a:p>
            <a:r>
              <a:rPr lang="en-US" sz="2000" b="1" dirty="0"/>
              <a:t>Features of Existing Systems</a:t>
            </a:r>
          </a:p>
          <a:p>
            <a:r>
              <a:rPr lang="en-US" sz="2000" dirty="0"/>
              <a:t>Provide stock price charts and technical indicators</a:t>
            </a:r>
          </a:p>
          <a:p>
            <a:r>
              <a:rPr lang="en-US" sz="2000" dirty="0"/>
              <a:t>Enable real trading with brokerage accounts</a:t>
            </a:r>
          </a:p>
          <a:p>
            <a:r>
              <a:rPr lang="en-US" sz="2000" dirty="0"/>
              <a:t>Provide portfolio management tools</a:t>
            </a:r>
          </a:p>
          <a:p>
            <a:endParaRPr lang="en-US" sz="2000" dirty="0"/>
          </a:p>
          <a:p>
            <a:r>
              <a:rPr lang="en-US" sz="2000" b="1" dirty="0"/>
              <a:t>Limitations</a:t>
            </a:r>
          </a:p>
          <a:p>
            <a:r>
              <a:rPr lang="en-US" sz="2000" dirty="0"/>
              <a:t>Internal analytics algorithms are not transparent</a:t>
            </a:r>
          </a:p>
          <a:p>
            <a:r>
              <a:rPr lang="en-US" sz="2000" dirty="0"/>
              <a:t>Limited customization for research and experimentation</a:t>
            </a:r>
          </a:p>
          <a:p>
            <a:r>
              <a:rPr lang="en-US" sz="2000" dirty="0"/>
              <a:t>Do not demonstrate underlying big-data processing pipelines</a:t>
            </a:r>
          </a:p>
          <a:p>
            <a:r>
              <a:rPr lang="en-US" sz="2000" dirty="0"/>
              <a:t>Educational understanding of data processing and prediction models is limited</a:t>
            </a:r>
          </a:p>
          <a:p>
            <a:pPr>
              <a:buNone/>
            </a:pPr>
            <a:endParaRPr lang="en-US" sz="2000" dirty="0"/>
          </a:p>
        </p:txBody>
      </p:sp>
    </p:spTree>
    <p:extLst>
      <p:ext uri="{BB962C8B-B14F-4D97-AF65-F5344CB8AC3E}">
        <p14:creationId xmlns:p14="http://schemas.microsoft.com/office/powerpoint/2010/main" val="3591817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OBJECTIVES</a:t>
            </a:r>
            <a:endParaRPr lang="en-IN" dirty="0"/>
          </a:p>
        </p:txBody>
      </p:sp>
      <p:sp>
        <p:nvSpPr>
          <p:cNvPr id="5" name="ContentBody"/>
          <p:cNvSpPr txBox="1"/>
          <p:nvPr/>
        </p:nvSpPr>
        <p:spPr>
          <a:xfrm>
            <a:off x="469813" y="1594497"/>
            <a:ext cx="11272035" cy="4769654"/>
          </a:xfrm>
        </p:spPr>
        <p:txBody>
          <a:bodyPr/>
          <a:lstStyle/>
          <a:p>
            <a:pPr>
              <a:buNone/>
            </a:pPr>
            <a:r>
              <a:rPr lang="en-US" sz="1600" dirty="0"/>
              <a:t>• </a:t>
            </a:r>
            <a:r>
              <a:rPr lang="en-US" sz="1600" b="1" dirty="0"/>
              <a:t>Big Data Stock Analysis</a:t>
            </a:r>
            <a:br>
              <a:rPr lang="en-US" sz="1600" dirty="0"/>
            </a:br>
            <a:r>
              <a:rPr lang="en-US" sz="1600" dirty="0"/>
              <a:t>Analyze large volumes of historical stock market data using Big Data techniques to identify trends, patterns, and market behavior for better trading insights.</a:t>
            </a:r>
          </a:p>
          <a:p>
            <a:pPr>
              <a:buNone/>
            </a:pPr>
            <a:endParaRPr lang="en-US" sz="1600" dirty="0"/>
          </a:p>
          <a:p>
            <a:pPr>
              <a:buNone/>
            </a:pPr>
            <a:r>
              <a:rPr lang="en-US" sz="1600" dirty="0"/>
              <a:t>• </a:t>
            </a:r>
            <a:r>
              <a:rPr lang="en-US" sz="1600" b="1" dirty="0"/>
              <a:t>Scalable Processing with Apache Spark</a:t>
            </a:r>
            <a:br>
              <a:rPr lang="en-US" sz="1600" dirty="0"/>
            </a:br>
            <a:r>
              <a:rPr lang="en-US" sz="1600" dirty="0"/>
              <a:t>Use Apache Spark (</a:t>
            </a:r>
            <a:r>
              <a:rPr lang="en-US" sz="1600" dirty="0" err="1"/>
              <a:t>PySpark</a:t>
            </a:r>
            <a:r>
              <a:rPr lang="en-US" sz="1600" dirty="0"/>
              <a:t>) to process and aggregate large stock datasets efficiently, enabling fast and scalable data analytics.</a:t>
            </a:r>
          </a:p>
          <a:p>
            <a:pPr>
              <a:buNone/>
            </a:pPr>
            <a:endParaRPr lang="en-US" sz="1600" dirty="0"/>
          </a:p>
          <a:p>
            <a:pPr>
              <a:buNone/>
            </a:pPr>
            <a:r>
              <a:rPr lang="en-US" sz="1600" dirty="0"/>
              <a:t>• </a:t>
            </a:r>
            <a:r>
              <a:rPr lang="en-US" sz="1600" b="1" dirty="0"/>
              <a:t>Interactive Trading Dashboard</a:t>
            </a:r>
            <a:br>
              <a:rPr lang="en-US" sz="1600" dirty="0"/>
            </a:br>
            <a:r>
              <a:rPr lang="en-US" sz="1600" dirty="0"/>
              <a:t>Develop a user-friendly dashboard using </a:t>
            </a:r>
            <a:r>
              <a:rPr lang="en-US" sz="1600" dirty="0" err="1"/>
              <a:t>Streamlit</a:t>
            </a:r>
            <a:r>
              <a:rPr lang="en-US" sz="1600" dirty="0"/>
              <a:t> that displays stock performance through dynamic visualizations such as live candlestick charts.</a:t>
            </a:r>
          </a:p>
          <a:p>
            <a:pPr>
              <a:buNone/>
            </a:pPr>
            <a:endParaRPr lang="en-US" sz="1600" dirty="0"/>
          </a:p>
          <a:p>
            <a:pPr>
              <a:buNone/>
            </a:pPr>
            <a:r>
              <a:rPr lang="en-US" sz="1600" dirty="0"/>
              <a:t>• </a:t>
            </a:r>
            <a:r>
              <a:rPr lang="en-US" sz="1600" b="1" dirty="0"/>
              <a:t>Automated Trading Signals</a:t>
            </a:r>
            <a:br>
              <a:rPr lang="en-US" sz="1600" dirty="0"/>
            </a:br>
            <a:r>
              <a:rPr lang="en-US" sz="1600" dirty="0"/>
              <a:t>Implement the Moving Average Crossover strategy (MA10 vs MA50) to automatically generate Buy, Sell, or Hold signals for traders.</a:t>
            </a:r>
          </a:p>
          <a:p>
            <a:pPr>
              <a:buNone/>
            </a:pPr>
            <a:endParaRPr lang="en-US" sz="1600" dirty="0"/>
          </a:p>
          <a:p>
            <a:pPr>
              <a:buNone/>
            </a:pPr>
            <a:r>
              <a:rPr lang="en-US" sz="1600" dirty="0"/>
              <a:t>• </a:t>
            </a:r>
            <a:r>
              <a:rPr lang="en-US" sz="1600" b="1" dirty="0"/>
              <a:t>AI-Based Price Prediction</a:t>
            </a:r>
            <a:br>
              <a:rPr lang="en-US" sz="1600" dirty="0"/>
            </a:br>
            <a:r>
              <a:rPr lang="en-US" sz="1600" dirty="0"/>
              <a:t>Integrate Machine Learning using Linear Regression to predict future stock price trends based on historical data.</a:t>
            </a:r>
          </a:p>
          <a:p>
            <a:pPr>
              <a:buNone/>
            </a:pPr>
            <a:endParaRPr lang="en-US" sz="1600" dirty="0"/>
          </a:p>
          <a:p>
            <a:pPr>
              <a:buNone/>
            </a:pPr>
            <a:r>
              <a:rPr lang="en-US" sz="1600" dirty="0"/>
              <a:t>• </a:t>
            </a:r>
            <a:r>
              <a:rPr lang="en-US" sz="1600" b="1" dirty="0"/>
              <a:t>Virtual Trading Simulation</a:t>
            </a:r>
            <a:br>
              <a:rPr lang="en-US" sz="1600" dirty="0"/>
            </a:br>
            <a:r>
              <a:rPr lang="en-US" sz="1600" dirty="0"/>
              <a:t>Create a simulated trading environment with a virtual wallet and transaction tracking to test strategies without real financial risk.</a:t>
            </a:r>
          </a:p>
          <a:p>
            <a:pPr algn="l">
              <a:lnSpc>
                <a:spcPts val="3200"/>
              </a:lnSpc>
            </a:pP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DDD-652B-7175-744D-D2990D9C81D1}"/>
              </a:ext>
            </a:extLst>
          </p:cNvPr>
          <p:cNvSpPr>
            <a:spLocks noGrp="1"/>
          </p:cNvSpPr>
          <p:nvPr>
            <p:ph type="ctrTitle"/>
          </p:nvPr>
        </p:nvSpPr>
        <p:spPr>
          <a:xfrm>
            <a:off x="1600200" y="474454"/>
            <a:ext cx="8991600" cy="1147312"/>
          </a:xfrm>
        </p:spPr>
        <p:txBody>
          <a:bodyPr>
            <a:normAutofit/>
          </a:bodyPr>
          <a:lstStyle/>
          <a:p>
            <a:r>
              <a:rPr lang="en-IN" dirty="0"/>
              <a:t>PROPOSED solution</a:t>
            </a:r>
          </a:p>
        </p:txBody>
      </p:sp>
      <p:sp>
        <p:nvSpPr>
          <p:cNvPr id="3" name="ContentBody"/>
          <p:cNvSpPr txBox="1"/>
          <p:nvPr/>
        </p:nvSpPr>
        <p:spPr>
          <a:xfrm>
            <a:off x="1600199" y="1918735"/>
            <a:ext cx="8991599" cy="4249151"/>
          </a:xfrm>
        </p:spPr>
        <p:txBody>
          <a:bodyPr/>
          <a:lstStyle/>
          <a:p>
            <a:pPr>
              <a:buNone/>
            </a:pPr>
            <a:r>
              <a:rPr lang="en-US" dirty="0"/>
              <a:t>The proposed system </a:t>
            </a:r>
            <a:r>
              <a:rPr lang="en-US" b="1" dirty="0" err="1"/>
              <a:t>SmartStocks</a:t>
            </a:r>
            <a:r>
              <a:rPr lang="en-US" b="1" dirty="0"/>
              <a:t> AI</a:t>
            </a:r>
            <a:r>
              <a:rPr lang="en-US" dirty="0"/>
              <a:t> is a big data–based stock market analytics platform designed to analyze financial data efficiently and present insights through an interactive dashboard. The system integrates </a:t>
            </a:r>
            <a:r>
              <a:rPr lang="en-US" b="1" dirty="0"/>
              <a:t>Apache Spark for large-scale data processing</a:t>
            </a:r>
            <a:r>
              <a:rPr lang="en-US" dirty="0"/>
              <a:t>, </a:t>
            </a:r>
            <a:r>
              <a:rPr lang="en-US" b="1" dirty="0"/>
              <a:t>machine learning for price prediction</a:t>
            </a:r>
            <a:r>
              <a:rPr lang="en-US" dirty="0"/>
              <a:t>, and a </a:t>
            </a:r>
            <a:r>
              <a:rPr lang="en-US" b="1" dirty="0" err="1"/>
              <a:t>Streamlit</a:t>
            </a:r>
            <a:r>
              <a:rPr lang="en-US" b="1" dirty="0"/>
              <a:t>-based visualization interface</a:t>
            </a:r>
            <a:r>
              <a:rPr lang="en-US" dirty="0"/>
              <a:t> for user interaction.</a:t>
            </a:r>
          </a:p>
          <a:p>
            <a:pPr>
              <a:buNone/>
            </a:pPr>
            <a:endParaRPr lang="en-US" dirty="0"/>
          </a:p>
          <a:p>
            <a:pPr>
              <a:buNone/>
            </a:pPr>
            <a:r>
              <a:rPr lang="en-US" dirty="0"/>
              <a:t>Stock market data is collected from the </a:t>
            </a:r>
            <a:r>
              <a:rPr lang="en-US" b="1" dirty="0"/>
              <a:t>Yahoo Finance API</a:t>
            </a:r>
            <a:r>
              <a:rPr lang="en-US" dirty="0"/>
              <a:t> and processed using </a:t>
            </a:r>
            <a:r>
              <a:rPr lang="en-US" b="1" dirty="0"/>
              <a:t>Apache Spark</a:t>
            </a:r>
            <a:r>
              <a:rPr lang="en-US" dirty="0"/>
              <a:t>, which performs analytics such as average price calculation, high–low analysis, and volume aggregation. The processed results are then exported and used by the dashboard for visualization and decision support.</a:t>
            </a:r>
          </a:p>
          <a:p>
            <a:pPr>
              <a:buNone/>
            </a:pPr>
            <a:endParaRPr lang="en-US" dirty="0"/>
          </a:p>
          <a:p>
            <a:pPr>
              <a:buNone/>
            </a:pPr>
            <a:r>
              <a:rPr lang="en-US" dirty="0"/>
              <a:t>The platform includes an </a:t>
            </a:r>
            <a:r>
              <a:rPr lang="en-US" b="1" dirty="0"/>
              <a:t>AI-driven prediction module</a:t>
            </a:r>
            <a:r>
              <a:rPr lang="en-US" dirty="0"/>
              <a:t> that forecasts future stock prices using machine learning techniques. Additionally, a </a:t>
            </a:r>
            <a:r>
              <a:rPr lang="en-US" b="1" dirty="0"/>
              <a:t>trading simulation module</a:t>
            </a:r>
            <a:r>
              <a:rPr lang="en-US" dirty="0"/>
              <a:t> allows users to perform buy and sell operations using a virtual wallet, track holdings, and analyze profit or loss.</a:t>
            </a:r>
          </a:p>
          <a:p>
            <a:pPr algn="l">
              <a:lnSpc>
                <a:spcPts val="2600"/>
              </a:lnSpc>
            </a:pPr>
            <a:endParaRPr lang="en-US" dirty="0"/>
          </a:p>
        </p:txBody>
      </p:sp>
    </p:spTree>
    <p:extLst>
      <p:ext uri="{BB962C8B-B14F-4D97-AF65-F5344CB8AC3E}">
        <p14:creationId xmlns:p14="http://schemas.microsoft.com/office/powerpoint/2010/main" val="3408330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F80C-B9DB-29BB-E52D-C17D80EB2337}"/>
              </a:ext>
            </a:extLst>
          </p:cNvPr>
          <p:cNvSpPr>
            <a:spLocks noGrp="1"/>
          </p:cNvSpPr>
          <p:nvPr>
            <p:ph type="ctrTitle"/>
          </p:nvPr>
        </p:nvSpPr>
        <p:spPr>
          <a:xfrm>
            <a:off x="1600200" y="416378"/>
            <a:ext cx="8991600" cy="1239894"/>
          </a:xfrm>
        </p:spPr>
        <p:txBody>
          <a:bodyPr/>
          <a:lstStyle/>
          <a:p>
            <a:r>
              <a:rPr lang="en-IN" dirty="0"/>
              <a:t>TECHNOLOGIES USED</a:t>
            </a:r>
          </a:p>
        </p:txBody>
      </p:sp>
      <p:sp>
        <p:nvSpPr>
          <p:cNvPr id="3" name="ContentBody"/>
          <p:cNvSpPr txBox="1"/>
          <p:nvPr/>
        </p:nvSpPr>
        <p:spPr>
          <a:xfrm>
            <a:off x="665671" y="2009955"/>
            <a:ext cx="10877910" cy="3873260"/>
          </a:xfrm>
        </p:spPr>
        <p:txBody>
          <a:bodyPr>
            <a:normAutofit fontScale="85000" lnSpcReduction="20000"/>
          </a:bodyPr>
          <a:lstStyle/>
          <a:p>
            <a:pPr algn="l">
              <a:lnSpc>
                <a:spcPct val="150000"/>
              </a:lnSpc>
            </a:pPr>
            <a:r>
              <a:rPr lang="en-US" sz="2000" b="1" dirty="0"/>
              <a:t>Big Data Technologies:</a:t>
            </a:r>
          </a:p>
          <a:p>
            <a:pPr algn="l">
              <a:lnSpc>
                <a:spcPct val="150000"/>
              </a:lnSpc>
            </a:pPr>
            <a:r>
              <a:rPr lang="en-US" sz="2000" dirty="0"/>
              <a:t>•  Apache Spark (PySpark) — Distributed data processing engine</a:t>
            </a:r>
          </a:p>
          <a:p>
            <a:pPr algn="l">
              <a:lnSpc>
                <a:spcPct val="150000"/>
              </a:lnSpc>
            </a:pPr>
            <a:r>
              <a:rPr lang="en-US" sz="2000" dirty="0"/>
              <a:t>•  Spark SQL — Large-scale SQL queries on Spark DataFrames</a:t>
            </a:r>
          </a:p>
          <a:p>
            <a:pPr algn="l">
              <a:lnSpc>
                <a:spcPct val="150000"/>
              </a:lnSpc>
            </a:pPr>
            <a:r>
              <a:rPr lang="en-US" sz="2000" b="1" dirty="0"/>
              <a:t>Programming &amp; Frameworks:</a:t>
            </a:r>
          </a:p>
          <a:p>
            <a:pPr algn="l">
              <a:lnSpc>
                <a:spcPct val="150000"/>
              </a:lnSpc>
            </a:pPr>
            <a:r>
              <a:rPr lang="en-US" sz="2000" dirty="0"/>
              <a:t>•  Python 3.x, Streamlit (interactive dashboard), Plotly (candlestick charts)</a:t>
            </a:r>
          </a:p>
          <a:p>
            <a:pPr algn="l">
              <a:lnSpc>
                <a:spcPct val="150000"/>
              </a:lnSpc>
            </a:pPr>
            <a:r>
              <a:rPr lang="en-US" sz="2000" b="1" dirty="0"/>
              <a:t>Machine Learning:</a:t>
            </a:r>
          </a:p>
          <a:p>
            <a:pPr algn="l">
              <a:lnSpc>
                <a:spcPct val="150000"/>
              </a:lnSpc>
            </a:pPr>
            <a:r>
              <a:rPr lang="en-US" sz="2000" dirty="0"/>
              <a:t>•  Scikit-learn — Linear Regression for price prediction</a:t>
            </a:r>
          </a:p>
          <a:p>
            <a:pPr algn="l">
              <a:lnSpc>
                <a:spcPct val="150000"/>
              </a:lnSpc>
            </a:pPr>
            <a:r>
              <a:rPr lang="en-US" sz="2000" dirty="0"/>
              <a:t>•  NumPy — Numerical computation for feature engineering</a:t>
            </a:r>
          </a:p>
          <a:p>
            <a:pPr algn="l">
              <a:lnSpc>
                <a:spcPct val="150000"/>
              </a:lnSpc>
            </a:pPr>
            <a:r>
              <a:rPr lang="en-US" sz="2000" b="1" dirty="0"/>
              <a:t>Data Source &amp; IDE:</a:t>
            </a:r>
          </a:p>
          <a:p>
            <a:pPr algn="l">
              <a:lnSpc>
                <a:spcPct val="150000"/>
              </a:lnSpc>
            </a:pPr>
            <a:r>
              <a:rPr lang="en-US" sz="2000" dirty="0"/>
              <a:t>•  Yahoo Finance API (yfinance) — Live OHLCV stock data feed</a:t>
            </a:r>
          </a:p>
          <a:p>
            <a:pPr algn="l">
              <a:lnSpc>
                <a:spcPct val="150000"/>
              </a:lnSpc>
            </a:pPr>
            <a:r>
              <a:rPr lang="en-US" sz="2000" dirty="0"/>
              <a:t>•  Visual Studio Code (VS Code) — Development environment</a:t>
            </a:r>
          </a:p>
        </p:txBody>
      </p:sp>
    </p:spTree>
    <p:extLst>
      <p:ext uri="{BB962C8B-B14F-4D97-AF65-F5344CB8AC3E}">
        <p14:creationId xmlns:p14="http://schemas.microsoft.com/office/powerpoint/2010/main" val="2071131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A57C3-BD62-99B5-1BF5-C0D7AD3ED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6F453-CC2C-1956-3B26-6831BAD5C5B2}"/>
              </a:ext>
            </a:extLst>
          </p:cNvPr>
          <p:cNvSpPr>
            <a:spLocks noGrp="1"/>
          </p:cNvSpPr>
          <p:nvPr>
            <p:ph type="ctrTitle"/>
          </p:nvPr>
        </p:nvSpPr>
        <p:spPr>
          <a:xfrm>
            <a:off x="1600200" y="416378"/>
            <a:ext cx="8991600" cy="1239894"/>
          </a:xfrm>
        </p:spPr>
        <p:txBody>
          <a:bodyPr/>
          <a:lstStyle/>
          <a:p>
            <a:r>
              <a:rPr lang="en-US" dirty="0"/>
              <a:t>B</a:t>
            </a:r>
            <a:r>
              <a:rPr lang="en-IN" dirty="0"/>
              <a:t>lock diagram</a:t>
            </a:r>
          </a:p>
        </p:txBody>
      </p:sp>
      <p:sp>
        <p:nvSpPr>
          <p:cNvPr id="3" name="ContentBody">
            <a:extLst>
              <a:ext uri="{FF2B5EF4-FFF2-40B4-BE49-F238E27FC236}">
                <a16:creationId xmlns:a16="http://schemas.microsoft.com/office/drawing/2014/main" id="{FCF08419-D488-0B0B-A2EE-524C6A2D3DBA}"/>
              </a:ext>
            </a:extLst>
          </p:cNvPr>
          <p:cNvSpPr txBox="1"/>
          <p:nvPr/>
        </p:nvSpPr>
        <p:spPr>
          <a:xfrm>
            <a:off x="665671" y="2009955"/>
            <a:ext cx="10877910" cy="4787660"/>
          </a:xfrm>
        </p:spPr>
        <p:txBody>
          <a:bodyPr>
            <a:normAutofit/>
          </a:bodyPr>
          <a:lstStyle/>
          <a:p>
            <a:pPr algn="l">
              <a:lnSpc>
                <a:spcPts val="2600"/>
              </a:lnSpc>
            </a:pPr>
            <a:endParaRPr lang="en-US" sz="1400" dirty="0"/>
          </a:p>
        </p:txBody>
      </p:sp>
      <p:pic>
        <p:nvPicPr>
          <p:cNvPr id="5" name="Picture 4">
            <a:extLst>
              <a:ext uri="{FF2B5EF4-FFF2-40B4-BE49-F238E27FC236}">
                <a16:creationId xmlns:a16="http://schemas.microsoft.com/office/drawing/2014/main" id="{36649471-2A8A-7D8C-BBAC-12A69146D034}"/>
              </a:ext>
            </a:extLst>
          </p:cNvPr>
          <p:cNvPicPr>
            <a:picLocks noChangeAspect="1"/>
          </p:cNvPicPr>
          <p:nvPr/>
        </p:nvPicPr>
        <p:blipFill>
          <a:blip r:embed="rId2"/>
          <a:stretch>
            <a:fillRect/>
          </a:stretch>
        </p:blipFill>
        <p:spPr>
          <a:xfrm>
            <a:off x="1784230" y="2009955"/>
            <a:ext cx="8623539" cy="4311771"/>
          </a:xfrm>
          <a:prstGeom prst="rect">
            <a:avLst/>
          </a:prstGeom>
        </p:spPr>
      </p:pic>
    </p:spTree>
    <p:extLst>
      <p:ext uri="{BB962C8B-B14F-4D97-AF65-F5344CB8AC3E}">
        <p14:creationId xmlns:p14="http://schemas.microsoft.com/office/powerpoint/2010/main" val="2523848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161B-F867-2E5A-880D-35118E6E95E7}"/>
              </a:ext>
            </a:extLst>
          </p:cNvPr>
          <p:cNvSpPr>
            <a:spLocks noGrp="1"/>
          </p:cNvSpPr>
          <p:nvPr>
            <p:ph type="ctrTitle"/>
          </p:nvPr>
        </p:nvSpPr>
        <p:spPr>
          <a:xfrm>
            <a:off x="1600200" y="405441"/>
            <a:ext cx="8991600" cy="1239893"/>
          </a:xfrm>
        </p:spPr>
        <p:txBody>
          <a:bodyPr/>
          <a:lstStyle/>
          <a:p>
            <a:r>
              <a:rPr lang="en-IN" dirty="0"/>
              <a:t>SYSTEM ARCHITECTURE</a:t>
            </a:r>
          </a:p>
        </p:txBody>
      </p:sp>
      <p:sp>
        <p:nvSpPr>
          <p:cNvPr id="3" name="ContentBody"/>
          <p:cNvSpPr txBox="1"/>
          <p:nvPr/>
        </p:nvSpPr>
        <p:spPr>
          <a:xfrm>
            <a:off x="1600200" y="2329314"/>
            <a:ext cx="8991600" cy="3715351"/>
          </a:xfrm>
        </p:spPr>
        <p:txBody>
          <a:bodyPr>
            <a:normAutofit/>
          </a:bodyPr>
          <a:lstStyle/>
          <a:p>
            <a:pPr algn="l">
              <a:lnSpc>
                <a:spcPts val="2600"/>
              </a:lnSpc>
            </a:pPr>
            <a:endParaRPr lang="en-US" sz="1500" b="1" dirty="0"/>
          </a:p>
        </p:txBody>
      </p:sp>
      <p:pic>
        <p:nvPicPr>
          <p:cNvPr id="6" name="Picture 5">
            <a:extLst>
              <a:ext uri="{FF2B5EF4-FFF2-40B4-BE49-F238E27FC236}">
                <a16:creationId xmlns:a16="http://schemas.microsoft.com/office/drawing/2014/main" id="{D0D1B049-F81F-4C66-8DB4-01F2520AC9F1}"/>
              </a:ext>
            </a:extLst>
          </p:cNvPr>
          <p:cNvPicPr>
            <a:picLocks noChangeAspect="1"/>
          </p:cNvPicPr>
          <p:nvPr/>
        </p:nvPicPr>
        <p:blipFill>
          <a:blip r:embed="rId2"/>
          <a:stretch>
            <a:fillRect/>
          </a:stretch>
        </p:blipFill>
        <p:spPr>
          <a:xfrm>
            <a:off x="2562231" y="1817195"/>
            <a:ext cx="7067538" cy="4739587"/>
          </a:xfrm>
          <a:prstGeom prst="rect">
            <a:avLst/>
          </a:prstGeom>
        </p:spPr>
      </p:pic>
    </p:spTree>
    <p:extLst>
      <p:ext uri="{BB962C8B-B14F-4D97-AF65-F5344CB8AC3E}">
        <p14:creationId xmlns:p14="http://schemas.microsoft.com/office/powerpoint/2010/main" val="1618906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7674-5984-2F59-F6CD-2D0A70C837A6}"/>
              </a:ext>
            </a:extLst>
          </p:cNvPr>
          <p:cNvSpPr>
            <a:spLocks noGrp="1"/>
          </p:cNvSpPr>
          <p:nvPr>
            <p:ph type="ctrTitle"/>
          </p:nvPr>
        </p:nvSpPr>
        <p:spPr>
          <a:xfrm>
            <a:off x="1600200" y="345058"/>
            <a:ext cx="8991600" cy="1052422"/>
          </a:xfrm>
        </p:spPr>
        <p:txBody>
          <a:bodyPr>
            <a:normAutofit/>
          </a:bodyPr>
          <a:lstStyle/>
          <a:p>
            <a:r>
              <a:rPr lang="en-US" dirty="0"/>
              <a:t>U</a:t>
            </a:r>
            <a:r>
              <a:rPr lang="en-IN" dirty="0"/>
              <a:t>ML DIAGRAM</a:t>
            </a:r>
          </a:p>
        </p:txBody>
      </p:sp>
      <p:sp>
        <p:nvSpPr>
          <p:cNvPr id="3" name="ContentBody"/>
          <p:cNvSpPr txBox="1"/>
          <p:nvPr/>
        </p:nvSpPr>
        <p:spPr>
          <a:xfrm>
            <a:off x="1328286" y="1733909"/>
            <a:ext cx="10241279" cy="3858529"/>
          </a:xfrm>
        </p:spPr>
        <p:txBody>
          <a:bodyPr>
            <a:normAutofit/>
          </a:bodyPr>
          <a:lstStyle/>
          <a:p>
            <a:pPr algn="l">
              <a:lnSpc>
                <a:spcPts val="2600"/>
              </a:lnSpc>
            </a:pPr>
            <a:endParaRPr lang="en-US" sz="1400" dirty="0"/>
          </a:p>
        </p:txBody>
      </p:sp>
      <p:pic>
        <p:nvPicPr>
          <p:cNvPr id="5" name="Picture 4">
            <a:extLst>
              <a:ext uri="{FF2B5EF4-FFF2-40B4-BE49-F238E27FC236}">
                <a16:creationId xmlns:a16="http://schemas.microsoft.com/office/drawing/2014/main" id="{F62E6B8F-D75A-214A-E39F-B65C0FE891EB}"/>
              </a:ext>
            </a:extLst>
          </p:cNvPr>
          <p:cNvPicPr>
            <a:picLocks noChangeAspect="1"/>
          </p:cNvPicPr>
          <p:nvPr/>
        </p:nvPicPr>
        <p:blipFill>
          <a:blip r:embed="rId2"/>
          <a:stretch>
            <a:fillRect/>
          </a:stretch>
        </p:blipFill>
        <p:spPr>
          <a:xfrm>
            <a:off x="3306116" y="1838845"/>
            <a:ext cx="5579767" cy="4090022"/>
          </a:xfrm>
          <a:prstGeom prst="rect">
            <a:avLst/>
          </a:prstGeom>
        </p:spPr>
      </p:pic>
    </p:spTree>
    <p:extLst>
      <p:ext uri="{BB962C8B-B14F-4D97-AF65-F5344CB8AC3E}">
        <p14:creationId xmlns:p14="http://schemas.microsoft.com/office/powerpoint/2010/main" val="2994999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B3C21-5DA3-4B58-2252-5988EF323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95559-7DA7-79A1-141E-1B2AE1AA06A6}"/>
              </a:ext>
            </a:extLst>
          </p:cNvPr>
          <p:cNvSpPr>
            <a:spLocks noGrp="1"/>
          </p:cNvSpPr>
          <p:nvPr>
            <p:ph type="ctrTitle"/>
          </p:nvPr>
        </p:nvSpPr>
        <p:spPr>
          <a:xfrm>
            <a:off x="1600200" y="345058"/>
            <a:ext cx="8991600" cy="1052422"/>
          </a:xfrm>
        </p:spPr>
        <p:txBody>
          <a:bodyPr>
            <a:normAutofit/>
          </a:bodyPr>
          <a:lstStyle/>
          <a:p>
            <a:r>
              <a:rPr lang="en-US" dirty="0"/>
              <a:t>Activity diagram</a:t>
            </a:r>
            <a:endParaRPr lang="en-IN" dirty="0"/>
          </a:p>
        </p:txBody>
      </p:sp>
      <p:sp>
        <p:nvSpPr>
          <p:cNvPr id="3" name="ContentBody">
            <a:extLst>
              <a:ext uri="{FF2B5EF4-FFF2-40B4-BE49-F238E27FC236}">
                <a16:creationId xmlns:a16="http://schemas.microsoft.com/office/drawing/2014/main" id="{54FF9679-021A-AB89-B6F1-87B9F24B6921}"/>
              </a:ext>
            </a:extLst>
          </p:cNvPr>
          <p:cNvSpPr txBox="1"/>
          <p:nvPr/>
        </p:nvSpPr>
        <p:spPr>
          <a:xfrm>
            <a:off x="1328286" y="1733909"/>
            <a:ext cx="10241279" cy="3858529"/>
          </a:xfrm>
        </p:spPr>
        <p:txBody>
          <a:bodyPr>
            <a:normAutofit/>
          </a:bodyPr>
          <a:lstStyle/>
          <a:p>
            <a:pPr algn="l">
              <a:lnSpc>
                <a:spcPts val="2600"/>
              </a:lnSpc>
            </a:pPr>
            <a:endParaRPr lang="en-US" sz="1400" dirty="0"/>
          </a:p>
        </p:txBody>
      </p:sp>
      <p:pic>
        <p:nvPicPr>
          <p:cNvPr id="6" name="Picture 5">
            <a:extLst>
              <a:ext uri="{FF2B5EF4-FFF2-40B4-BE49-F238E27FC236}">
                <a16:creationId xmlns:a16="http://schemas.microsoft.com/office/drawing/2014/main" id="{C432C6D6-FE90-F7DC-F700-90B02A8E4555}"/>
              </a:ext>
            </a:extLst>
          </p:cNvPr>
          <p:cNvPicPr>
            <a:picLocks noChangeAspect="1"/>
          </p:cNvPicPr>
          <p:nvPr/>
        </p:nvPicPr>
        <p:blipFill>
          <a:blip r:embed="rId2"/>
          <a:stretch>
            <a:fillRect/>
          </a:stretch>
        </p:blipFill>
        <p:spPr>
          <a:xfrm>
            <a:off x="3552978" y="1733909"/>
            <a:ext cx="5086044" cy="4606503"/>
          </a:xfrm>
          <a:prstGeom prst="rect">
            <a:avLst/>
          </a:prstGeom>
        </p:spPr>
      </p:pic>
    </p:spTree>
    <p:extLst>
      <p:ext uri="{BB962C8B-B14F-4D97-AF65-F5344CB8AC3E}">
        <p14:creationId xmlns:p14="http://schemas.microsoft.com/office/powerpoint/2010/main" val="3299965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2822B-15E3-9F97-2A2A-CA546EC6E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84629-2F3D-8147-DE39-66A4A8C54878}"/>
              </a:ext>
            </a:extLst>
          </p:cNvPr>
          <p:cNvSpPr>
            <a:spLocks noGrp="1"/>
          </p:cNvSpPr>
          <p:nvPr>
            <p:ph type="ctrTitle"/>
          </p:nvPr>
        </p:nvSpPr>
        <p:spPr>
          <a:xfrm>
            <a:off x="1600200" y="345058"/>
            <a:ext cx="8991600" cy="1052422"/>
          </a:xfrm>
        </p:spPr>
        <p:txBody>
          <a:bodyPr>
            <a:normAutofit/>
          </a:bodyPr>
          <a:lstStyle/>
          <a:p>
            <a:r>
              <a:rPr lang="en-US" dirty="0"/>
              <a:t>Module design</a:t>
            </a:r>
            <a:endParaRPr lang="en-IN" dirty="0"/>
          </a:p>
        </p:txBody>
      </p:sp>
      <p:sp>
        <p:nvSpPr>
          <p:cNvPr id="3" name="ContentBody">
            <a:extLst>
              <a:ext uri="{FF2B5EF4-FFF2-40B4-BE49-F238E27FC236}">
                <a16:creationId xmlns:a16="http://schemas.microsoft.com/office/drawing/2014/main" id="{F8FD379D-8916-185D-D103-D0C06FF7AE8B}"/>
              </a:ext>
            </a:extLst>
          </p:cNvPr>
          <p:cNvSpPr txBox="1"/>
          <p:nvPr/>
        </p:nvSpPr>
        <p:spPr>
          <a:xfrm>
            <a:off x="1328286" y="1733909"/>
            <a:ext cx="10241279" cy="3858529"/>
          </a:xfrm>
        </p:spPr>
        <p:txBody>
          <a:bodyPr>
            <a:normAutofit/>
          </a:bodyPr>
          <a:lstStyle/>
          <a:p>
            <a:pPr algn="l">
              <a:lnSpc>
                <a:spcPts val="2600"/>
              </a:lnSpc>
            </a:pPr>
            <a:endParaRPr lang="en-US" sz="1400" dirty="0"/>
          </a:p>
        </p:txBody>
      </p:sp>
      <p:pic>
        <p:nvPicPr>
          <p:cNvPr id="5" name="Picture 4">
            <a:extLst>
              <a:ext uri="{FF2B5EF4-FFF2-40B4-BE49-F238E27FC236}">
                <a16:creationId xmlns:a16="http://schemas.microsoft.com/office/drawing/2014/main" id="{950EC46F-6003-A877-FC2A-E3467E2F79E4}"/>
              </a:ext>
            </a:extLst>
          </p:cNvPr>
          <p:cNvPicPr>
            <a:picLocks noChangeAspect="1"/>
          </p:cNvPicPr>
          <p:nvPr/>
        </p:nvPicPr>
        <p:blipFill>
          <a:blip r:embed="rId2"/>
          <a:stretch>
            <a:fillRect/>
          </a:stretch>
        </p:blipFill>
        <p:spPr>
          <a:xfrm>
            <a:off x="2140788" y="1733909"/>
            <a:ext cx="7910424" cy="4520242"/>
          </a:xfrm>
          <a:prstGeom prst="rect">
            <a:avLst/>
          </a:prstGeom>
        </p:spPr>
      </p:pic>
    </p:spTree>
    <p:extLst>
      <p:ext uri="{BB962C8B-B14F-4D97-AF65-F5344CB8AC3E}">
        <p14:creationId xmlns:p14="http://schemas.microsoft.com/office/powerpoint/2010/main" val="1420382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0413" y="322839"/>
            <a:ext cx="7551173" cy="974116"/>
          </a:xfrm>
        </p:spPr>
        <p:txBody>
          <a:bodyPr/>
          <a:lstStyle/>
          <a:p>
            <a:r>
              <a:rPr lang="en-US" dirty="0"/>
              <a:t>Expected outcomes</a:t>
            </a:r>
          </a:p>
        </p:txBody>
      </p:sp>
      <p:sp>
        <p:nvSpPr>
          <p:cNvPr id="501" name="ContentBox"/>
          <p:cNvSpPr txBox="1"/>
          <p:nvPr/>
        </p:nvSpPr>
        <p:spPr>
          <a:xfrm>
            <a:off x="759124" y="1906438"/>
            <a:ext cx="11277600" cy="5334000"/>
          </a:xfrm>
          <a:prstGeom prst="rect">
            <a:avLst/>
          </a:prstGeom>
          <a:noFill/>
        </p:spPr>
        <p:txBody>
          <a:bodyPr wrap="square" rtlCol="0">
            <a:normAutofit/>
          </a:bodyPr>
          <a:lstStyle/>
          <a:p>
            <a:pPr>
              <a:lnSpc>
                <a:spcPct val="150000"/>
              </a:lnSpc>
              <a:buNone/>
            </a:pPr>
            <a:r>
              <a:rPr lang="en-US" sz="2000" dirty="0"/>
              <a:t>The </a:t>
            </a:r>
            <a:r>
              <a:rPr lang="en-US" sz="2000" dirty="0" err="1"/>
              <a:t>SmartStocks</a:t>
            </a:r>
            <a:r>
              <a:rPr lang="en-US" sz="2000" dirty="0"/>
              <a:t> AI system is expected to:</a:t>
            </a:r>
          </a:p>
          <a:p>
            <a:pPr>
              <a:lnSpc>
                <a:spcPct val="150000"/>
              </a:lnSpc>
              <a:buFont typeface="Arial" panose="020B0604020202020204" pitchFamily="34" charset="0"/>
              <a:buChar char="•"/>
            </a:pPr>
            <a:r>
              <a:rPr lang="en-US" sz="2000" dirty="0"/>
              <a:t>Demonstrate </a:t>
            </a:r>
            <a:r>
              <a:rPr lang="en-US" sz="2000" b="1" dirty="0"/>
              <a:t>Big Data analytics using Apache Spark</a:t>
            </a:r>
            <a:endParaRPr lang="en-US" sz="2000" dirty="0"/>
          </a:p>
          <a:p>
            <a:pPr>
              <a:lnSpc>
                <a:spcPct val="150000"/>
              </a:lnSpc>
              <a:buFont typeface="Arial" panose="020B0604020202020204" pitchFamily="34" charset="0"/>
              <a:buChar char="•"/>
            </a:pPr>
            <a:r>
              <a:rPr lang="en-US" sz="2000" dirty="0"/>
              <a:t>Provide an </a:t>
            </a:r>
            <a:r>
              <a:rPr lang="en-US" sz="2000" b="1" dirty="0"/>
              <a:t>interactive stock market dashboard</a:t>
            </a:r>
            <a:endParaRPr lang="en-US" sz="2000" dirty="0"/>
          </a:p>
          <a:p>
            <a:pPr>
              <a:lnSpc>
                <a:spcPct val="150000"/>
              </a:lnSpc>
              <a:buFont typeface="Arial" panose="020B0604020202020204" pitchFamily="34" charset="0"/>
              <a:buChar char="•"/>
            </a:pPr>
            <a:r>
              <a:rPr lang="en-US" sz="2000" dirty="0"/>
              <a:t>Generate </a:t>
            </a:r>
            <a:r>
              <a:rPr lang="en-US" sz="2000" b="1" dirty="0"/>
              <a:t>AI-based price predictions</a:t>
            </a:r>
            <a:endParaRPr lang="en-US" sz="2000" dirty="0"/>
          </a:p>
          <a:p>
            <a:pPr>
              <a:lnSpc>
                <a:spcPct val="150000"/>
              </a:lnSpc>
              <a:buFont typeface="Arial" panose="020B0604020202020204" pitchFamily="34" charset="0"/>
              <a:buChar char="•"/>
            </a:pPr>
            <a:r>
              <a:rPr lang="en-US" sz="2000" dirty="0"/>
              <a:t>Simulate a </a:t>
            </a:r>
            <a:r>
              <a:rPr lang="en-US" sz="2000" b="1" dirty="0"/>
              <a:t>trading environment with wallet and holdings</a:t>
            </a:r>
            <a:endParaRPr lang="en-US" sz="2000" dirty="0"/>
          </a:p>
          <a:p>
            <a:pPr>
              <a:lnSpc>
                <a:spcPct val="150000"/>
              </a:lnSpc>
              <a:buFont typeface="Arial" panose="020B0604020202020204" pitchFamily="34" charset="0"/>
              <a:buChar char="•"/>
            </a:pPr>
            <a:r>
              <a:rPr lang="en-US" sz="2000" dirty="0"/>
              <a:t>Enable </a:t>
            </a:r>
            <a:r>
              <a:rPr lang="en-US" sz="2000" b="1" dirty="0"/>
              <a:t>visual analysis through candlestick charts</a:t>
            </a:r>
            <a:endParaRPr lang="en-US" sz="2000" dirty="0"/>
          </a:p>
          <a:p>
            <a:pPr>
              <a:lnSpc>
                <a:spcPct val="150000"/>
              </a:lnSpc>
              <a:buFont typeface="Arial" panose="020B0604020202020204" pitchFamily="34" charset="0"/>
              <a:buChar char="•"/>
            </a:pPr>
            <a:r>
              <a:rPr lang="en-US" sz="2000" dirty="0"/>
              <a:t>Help users understand </a:t>
            </a:r>
            <a:r>
              <a:rPr lang="en-US" sz="2000" b="1" dirty="0"/>
              <a:t>data-driven trading strategies</a:t>
            </a:r>
            <a:endParaRPr lang="en-US" sz="2000" dirty="0"/>
          </a:p>
          <a:p>
            <a:pPr algn="l">
              <a:lnSpc>
                <a:spcPts val="2600"/>
              </a:lnSpc>
            </a:pP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4F15B-8E34-2223-AAD9-F63185A86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FC687-838C-F9AE-24AD-EB2B9467F22A}"/>
              </a:ext>
            </a:extLst>
          </p:cNvPr>
          <p:cNvSpPr>
            <a:spLocks noGrp="1"/>
          </p:cNvSpPr>
          <p:nvPr>
            <p:ph type="ctrTitle"/>
          </p:nvPr>
        </p:nvSpPr>
        <p:spPr>
          <a:xfrm>
            <a:off x="2320413" y="2651971"/>
            <a:ext cx="7551173" cy="974116"/>
          </a:xfrm>
        </p:spPr>
        <p:txBody>
          <a:bodyPr/>
          <a:lstStyle/>
          <a:p>
            <a:r>
              <a:rPr lang="en-US" dirty="0"/>
              <a:t>Thank you</a:t>
            </a:r>
          </a:p>
        </p:txBody>
      </p:sp>
    </p:spTree>
    <p:extLst>
      <p:ext uri="{BB962C8B-B14F-4D97-AF65-F5344CB8AC3E}">
        <p14:creationId xmlns:p14="http://schemas.microsoft.com/office/powerpoint/2010/main" val="366523633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1015</TotalTime>
  <Words>1170</Words>
  <Application>Microsoft Office PowerPoint</Application>
  <PresentationFormat>Widescreen</PresentationFormat>
  <Paragraphs>139</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Gill Sans MT</vt:lpstr>
      <vt:lpstr>Times New Roman</vt:lpstr>
      <vt:lpstr>Parcel</vt:lpstr>
      <vt:lpstr>Smart Stocks AI real time Stock Market Analysis</vt:lpstr>
      <vt:lpstr>Table of Contents</vt:lpstr>
      <vt:lpstr>REVIEW-2 COMMENTS</vt:lpstr>
      <vt:lpstr>Module wise implementation</vt:lpstr>
      <vt:lpstr>LITERATURE SURVEY</vt:lpstr>
      <vt:lpstr>PROBLEM STATEMENT</vt:lpstr>
      <vt:lpstr>EXISTING SYSTEM</vt:lpstr>
      <vt:lpstr>OBJECTIVES</vt:lpstr>
      <vt:lpstr>PROPOSED solution</vt:lpstr>
      <vt:lpstr>TECHNOLOGIES USED</vt:lpstr>
      <vt:lpstr>Block diagram</vt:lpstr>
      <vt:lpstr>SYSTEM ARCHITECTURE</vt:lpstr>
      <vt:lpstr>UML DIAGRAM</vt:lpstr>
      <vt:lpstr>Activity diagram</vt:lpstr>
      <vt:lpstr>Module design</vt:lpstr>
      <vt:lpstr>Expected outcomes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Preserving performance of ml models using MLOps</dc:title>
  <dc:creator>Varshika Dasari</dc:creator>
  <cp:lastModifiedBy>Sai Yashwant</cp:lastModifiedBy>
  <cp:revision>27</cp:revision>
  <dcterms:created xsi:type="dcterms:W3CDTF">2022-09-15T19:17:00Z</dcterms:created>
  <dcterms:modified xsi:type="dcterms:W3CDTF">2026-03-14T08:06:44Z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3936C35BB73A4955AF09C77BF7191492</vt:lpwstr>
  </property>
  <property fmtid="{D5CDD505-2E9C-101B-9397-08002B2CF9AE}" pid="3" name="KSOProductBuildVer">
    <vt:lpwstr>1033-11.2.0.11306</vt:lpwstr>
  </property>
</Properties>
</file>